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Bobby Jone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55.png" Type="http://schemas.openxmlformats.org/officeDocument/2006/relationships/imag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64.png" Type="http://schemas.openxmlformats.org/officeDocument/2006/relationships/image"/><Relationship Id="rId13" Target="../media/image65.png" Type="http://schemas.openxmlformats.org/officeDocument/2006/relationships/image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62.png" Type="http://schemas.openxmlformats.org/officeDocument/2006/relationships/image"/><Relationship Id="rId9" Target="../media/image6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png" Type="http://schemas.openxmlformats.org/officeDocument/2006/relationships/image"/><Relationship Id="rId11" Target="../media/image75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2" Target="../media/image66.png" Type="http://schemas.openxmlformats.org/officeDocument/2006/relationships/image"/><Relationship Id="rId3" Target="../media/image67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72.png" Type="http://schemas.openxmlformats.org/officeDocument/2006/relationships/image"/><Relationship Id="rId9" Target="../media/image7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2" Target="../media/image76.png" Type="http://schemas.openxmlformats.org/officeDocument/2006/relationships/image"/><Relationship Id="rId3" Target="../media/image77.svg" Type="http://schemas.openxmlformats.org/officeDocument/2006/relationships/image"/><Relationship Id="rId4" Target="../media/image78.png" Type="http://schemas.openxmlformats.org/officeDocument/2006/relationships/image"/><Relationship Id="rId5" Target="../media/image79.sv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Relationship Id="rId8" Target="../media/image82.png" Type="http://schemas.openxmlformats.org/officeDocument/2006/relationships/image"/><Relationship Id="rId9" Target="../media/image8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64.png" Type="http://schemas.openxmlformats.org/officeDocument/2006/relationships/image"/><Relationship Id="rId12" Target="../media/image89.png" Type="http://schemas.openxmlformats.org/officeDocument/2006/relationships/image"/><Relationship Id="rId13" Target="../media/image90.svg" Type="http://schemas.openxmlformats.org/officeDocument/2006/relationships/image"/><Relationship Id="rId14" Target="../media/image91.png" Type="http://schemas.openxmlformats.org/officeDocument/2006/relationships/image"/><Relationship Id="rId15" Target="../media/image92.svg" Type="http://schemas.openxmlformats.org/officeDocument/2006/relationships/image"/><Relationship Id="rId2" Target="../media/image84.png" Type="http://schemas.openxmlformats.org/officeDocument/2006/relationships/image"/><Relationship Id="rId3" Target="../media/image85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86.png" Type="http://schemas.openxmlformats.org/officeDocument/2006/relationships/image"/><Relationship Id="rId7" Target="../media/image87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3.png" Type="http://schemas.openxmlformats.org/officeDocument/2006/relationships/image"/><Relationship Id="rId3" Target="../media/image94.svg" Type="http://schemas.openxmlformats.org/officeDocument/2006/relationships/image"/><Relationship Id="rId4" Target="../media/image95.png" Type="http://schemas.openxmlformats.org/officeDocument/2006/relationships/image"/><Relationship Id="rId5" Target="../media/image96.svg" Type="http://schemas.openxmlformats.org/officeDocument/2006/relationships/image"/><Relationship Id="rId6" Target="../media/image97.png" Type="http://schemas.openxmlformats.org/officeDocument/2006/relationships/image"/><Relationship Id="rId7" Target="../media/image9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9.png" Type="http://schemas.openxmlformats.org/officeDocument/2006/relationships/image"/><Relationship Id="rId3" Target="../media/image100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Relationship Id="rId6" Target="../media/image101.png" Type="http://schemas.openxmlformats.org/officeDocument/2006/relationships/image"/><Relationship Id="rId7" Target="../media/image102.svg" Type="http://schemas.openxmlformats.org/officeDocument/2006/relationships/image"/><Relationship Id="rId8" Target="../media/image103.png" Type="http://schemas.openxmlformats.org/officeDocument/2006/relationships/image"/><Relationship Id="rId9" Target="../media/image10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105.png" Type="http://schemas.openxmlformats.org/officeDocument/2006/relationships/image"/><Relationship Id="rId13" Target="../media/image106.png" Type="http://schemas.openxmlformats.org/officeDocument/2006/relationships/image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62.png" Type="http://schemas.openxmlformats.org/officeDocument/2006/relationships/image"/><Relationship Id="rId9" Target="../media/image6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107.png" Type="http://schemas.openxmlformats.org/officeDocument/2006/relationships/image"/><Relationship Id="rId5" Target="../media/image108.png" Type="http://schemas.openxmlformats.org/officeDocument/2006/relationships/image"/><Relationship Id="rId6" Target="../media/image62.png" Type="http://schemas.openxmlformats.org/officeDocument/2006/relationships/image"/><Relationship Id="rId7" Target="../media/image63.svg" Type="http://schemas.openxmlformats.org/officeDocument/2006/relationships/image"/><Relationship Id="rId8" Target="../media/image101.png" Type="http://schemas.openxmlformats.org/officeDocument/2006/relationships/image"/><Relationship Id="rId9" Target="../media/image10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109.png" Type="http://schemas.openxmlformats.org/officeDocument/2006/relationships/image"/><Relationship Id="rId9" Target="../media/image1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1.pn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1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5.svg" Type="http://schemas.openxmlformats.org/officeDocument/2006/relationships/imag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113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1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6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png" Type="http://schemas.openxmlformats.org/officeDocument/2006/relationships/image"/><Relationship Id="rId11" Target="../media/image122.svg" Type="http://schemas.openxmlformats.org/officeDocument/2006/relationships/image"/><Relationship Id="rId12" Target="../media/image123.png" Type="http://schemas.openxmlformats.org/officeDocument/2006/relationships/image"/><Relationship Id="rId13" Target="../media/image124.svg" Type="http://schemas.openxmlformats.org/officeDocument/2006/relationships/image"/><Relationship Id="rId14" Target="../media/image101.png" Type="http://schemas.openxmlformats.org/officeDocument/2006/relationships/image"/><Relationship Id="rId15" Target="../media/image102.svg" Type="http://schemas.openxmlformats.org/officeDocument/2006/relationships/image"/><Relationship Id="rId16" Target="../media/image125.png" Type="http://schemas.openxmlformats.org/officeDocument/2006/relationships/image"/><Relationship Id="rId17" Target="../media/image126.svg" Type="http://schemas.openxmlformats.org/officeDocument/2006/relationships/image"/><Relationship Id="rId18" Target="../media/image127.png" Type="http://schemas.openxmlformats.org/officeDocument/2006/relationships/image"/><Relationship Id="rId19" Target="../media/image128.svg" Type="http://schemas.openxmlformats.org/officeDocument/2006/relationships/image"/><Relationship Id="rId2" Target="../media/image117.png" Type="http://schemas.openxmlformats.org/officeDocument/2006/relationships/image"/><Relationship Id="rId20" Target="../media/image29.png" Type="http://schemas.openxmlformats.org/officeDocument/2006/relationships/image"/><Relationship Id="rId21" Target="../media/image30.svg" Type="http://schemas.openxmlformats.org/officeDocument/2006/relationships/image"/><Relationship Id="rId22" Target="https://github.com/SaniyaShaikh-sxc/climate-health-lifestyle-analysis" TargetMode="External" Type="http://schemas.openxmlformats.org/officeDocument/2006/relationships/hyperlink"/><Relationship Id="rId3" Target="../media/image118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119.png" Type="http://schemas.openxmlformats.org/officeDocument/2006/relationships/image"/><Relationship Id="rId7" Target="../media/image120.svg" Type="http://schemas.openxmlformats.org/officeDocument/2006/relationships/image"/><Relationship Id="rId8" Target="../media/image82.png" Type="http://schemas.openxmlformats.org/officeDocument/2006/relationships/image"/><Relationship Id="rId9" Target="../media/image8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36959" y="4516468"/>
            <a:ext cx="5791336" cy="6547454"/>
            <a:chOff x="0" y="0"/>
            <a:chExt cx="7721781" cy="8729938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18824"/>
              <a:ext cx="7721781" cy="8311114"/>
            </a:xfrm>
            <a:custGeom>
              <a:avLst/>
              <a:gdLst/>
              <a:ahLst/>
              <a:cxnLst/>
              <a:rect r="r" b="b" t="t" l="l"/>
              <a:pathLst>
                <a:path h="8311114" w="7721781">
                  <a:moveTo>
                    <a:pt x="7721781" y="0"/>
                  </a:moveTo>
                  <a:lnTo>
                    <a:pt x="0" y="0"/>
                  </a:lnTo>
                  <a:lnTo>
                    <a:pt x="0" y="8311114"/>
                  </a:lnTo>
                  <a:lnTo>
                    <a:pt x="7721781" y="8311114"/>
                  </a:lnTo>
                  <a:lnTo>
                    <a:pt x="7721781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1028508" y="0"/>
              <a:ext cx="2832382" cy="2832382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7E7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11791338" y="786469"/>
            <a:ext cx="4500385" cy="5334508"/>
          </a:xfrm>
          <a:custGeom>
            <a:avLst/>
            <a:gdLst/>
            <a:ahLst/>
            <a:cxnLst/>
            <a:rect r="r" b="b" t="t" l="l"/>
            <a:pathLst>
              <a:path h="5334508" w="4500385">
                <a:moveTo>
                  <a:pt x="0" y="0"/>
                </a:moveTo>
                <a:lnTo>
                  <a:pt x="4500385" y="0"/>
                </a:lnTo>
                <a:lnTo>
                  <a:pt x="4500385" y="5334508"/>
                </a:lnTo>
                <a:lnTo>
                  <a:pt x="0" y="533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718296" y="5036732"/>
            <a:ext cx="6543005" cy="6639581"/>
            <a:chOff x="0" y="0"/>
            <a:chExt cx="8724007" cy="8852775"/>
          </a:xfrm>
        </p:grpSpPr>
        <p:sp>
          <p:nvSpPr>
            <p:cNvPr name="Freeform 9" id="9"/>
            <p:cNvSpPr/>
            <p:nvPr/>
          </p:nvSpPr>
          <p:spPr>
            <a:xfrm flipH="true" flipV="false" rot="0">
              <a:off x="0" y="0"/>
              <a:ext cx="8724007" cy="8852775"/>
            </a:xfrm>
            <a:custGeom>
              <a:avLst/>
              <a:gdLst/>
              <a:ahLst/>
              <a:cxnLst/>
              <a:rect r="r" b="b" t="t" l="l"/>
              <a:pathLst>
                <a:path h="8852775" w="8724007">
                  <a:moveTo>
                    <a:pt x="8724007" y="0"/>
                  </a:moveTo>
                  <a:lnTo>
                    <a:pt x="0" y="0"/>
                  </a:lnTo>
                  <a:lnTo>
                    <a:pt x="0" y="8852775"/>
                  </a:lnTo>
                  <a:lnTo>
                    <a:pt x="8724007" y="8852775"/>
                  </a:lnTo>
                  <a:lnTo>
                    <a:pt x="8724007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4849682" y="646413"/>
              <a:ext cx="3681008" cy="3681008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7E7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4777570">
            <a:off x="-825226" y="981018"/>
            <a:ext cx="2566241" cy="2604119"/>
          </a:xfrm>
          <a:custGeom>
            <a:avLst/>
            <a:gdLst/>
            <a:ahLst/>
            <a:cxnLst/>
            <a:rect r="r" b="b" t="t" l="l"/>
            <a:pathLst>
              <a:path h="2604119" w="2566241">
                <a:moveTo>
                  <a:pt x="0" y="0"/>
                </a:moveTo>
                <a:lnTo>
                  <a:pt x="2566242" y="0"/>
                </a:lnTo>
                <a:lnTo>
                  <a:pt x="2566242" y="2604119"/>
                </a:lnTo>
                <a:lnTo>
                  <a:pt x="0" y="26041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848748">
            <a:off x="16225479" y="786469"/>
            <a:ext cx="2791065" cy="2659123"/>
          </a:xfrm>
          <a:custGeom>
            <a:avLst/>
            <a:gdLst/>
            <a:ahLst/>
            <a:cxnLst/>
            <a:rect r="r" b="b" t="t" l="l"/>
            <a:pathLst>
              <a:path h="2659123" w="2791065">
                <a:moveTo>
                  <a:pt x="0" y="0"/>
                </a:moveTo>
                <a:lnTo>
                  <a:pt x="2791065" y="0"/>
                </a:lnTo>
                <a:lnTo>
                  <a:pt x="2791065" y="2659124"/>
                </a:lnTo>
                <a:lnTo>
                  <a:pt x="0" y="26591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0487418">
            <a:off x="7430076" y="-2885695"/>
            <a:ext cx="3052433" cy="4114800"/>
          </a:xfrm>
          <a:custGeom>
            <a:avLst/>
            <a:gdLst/>
            <a:ahLst/>
            <a:cxnLst/>
            <a:rect r="r" b="b" t="t" l="l"/>
            <a:pathLst>
              <a:path h="4114800" w="3052433">
                <a:moveTo>
                  <a:pt x="0" y="0"/>
                </a:moveTo>
                <a:lnTo>
                  <a:pt x="3052434" y="0"/>
                </a:lnTo>
                <a:lnTo>
                  <a:pt x="3052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197429" y="534606"/>
            <a:ext cx="9366202" cy="8504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20"/>
              </a:lnSpc>
            </a:pPr>
            <a:r>
              <a:rPr lang="en-US" sz="16520">
                <a:solidFill>
                  <a:srgbClr val="B93B24"/>
                </a:solidFill>
                <a:latin typeface="Bobby Jones"/>
                <a:ea typeface="Bobby Jones"/>
                <a:cs typeface="Bobby Jones"/>
                <a:sym typeface="Bobby Jones"/>
              </a:rPr>
              <a:t>CLIMATE, WEALTH &amp; HEALTH</a:t>
            </a:r>
          </a:p>
          <a:p>
            <a:pPr algn="ctr">
              <a:lnSpc>
                <a:spcPts val="1652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824710" y="7856870"/>
            <a:ext cx="3633142" cy="1815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3590">
                <a:solidFill>
                  <a:srgbClr val="4D4F54">
                    <a:alpha val="80784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PRESENTED BY:</a:t>
            </a:r>
          </a:p>
          <a:p>
            <a:pPr algn="l">
              <a:lnSpc>
                <a:spcPts val="3590"/>
              </a:lnSpc>
            </a:pPr>
            <a:r>
              <a:rPr lang="en-US" sz="3590">
                <a:solidFill>
                  <a:srgbClr val="4D4F54">
                    <a:alpha val="80784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aDRITA</a:t>
            </a:r>
          </a:p>
          <a:p>
            <a:pPr algn="l">
              <a:lnSpc>
                <a:spcPts val="3590"/>
              </a:lnSpc>
            </a:pPr>
            <a:r>
              <a:rPr lang="en-US" sz="3590">
                <a:solidFill>
                  <a:srgbClr val="4D4F54">
                    <a:alpha val="80784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RIDHHI</a:t>
            </a:r>
          </a:p>
          <a:p>
            <a:pPr algn="l">
              <a:lnSpc>
                <a:spcPts val="3590"/>
              </a:lnSpc>
            </a:pPr>
            <a:r>
              <a:rPr lang="en-US" sz="3590">
                <a:solidFill>
                  <a:srgbClr val="4D4F54">
                    <a:alpha val="80784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SANIYA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C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24577">
            <a:off x="-703952" y="7673967"/>
            <a:ext cx="4457085" cy="4457085"/>
          </a:xfrm>
          <a:custGeom>
            <a:avLst/>
            <a:gdLst/>
            <a:ahLst/>
            <a:cxnLst/>
            <a:rect r="r" b="b" t="t" l="l"/>
            <a:pathLst>
              <a:path h="4457085" w="4457085">
                <a:moveTo>
                  <a:pt x="0" y="0"/>
                </a:moveTo>
                <a:lnTo>
                  <a:pt x="4457086" y="0"/>
                </a:lnTo>
                <a:lnTo>
                  <a:pt x="4457086" y="4457085"/>
                </a:lnTo>
                <a:lnTo>
                  <a:pt x="0" y="4457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999970">
            <a:off x="2274468" y="-418041"/>
            <a:ext cx="1670778" cy="2098009"/>
          </a:xfrm>
          <a:custGeom>
            <a:avLst/>
            <a:gdLst/>
            <a:ahLst/>
            <a:cxnLst/>
            <a:rect r="r" b="b" t="t" l="l"/>
            <a:pathLst>
              <a:path h="2098009" w="1670778">
                <a:moveTo>
                  <a:pt x="0" y="0"/>
                </a:moveTo>
                <a:lnTo>
                  <a:pt x="1670778" y="0"/>
                </a:lnTo>
                <a:lnTo>
                  <a:pt x="1670778" y="2098009"/>
                </a:lnTo>
                <a:lnTo>
                  <a:pt x="0" y="2098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45213">
            <a:off x="12663801" y="7981036"/>
            <a:ext cx="1786098" cy="3867534"/>
          </a:xfrm>
          <a:custGeom>
            <a:avLst/>
            <a:gdLst/>
            <a:ahLst/>
            <a:cxnLst/>
            <a:rect r="r" b="b" t="t" l="l"/>
            <a:pathLst>
              <a:path h="3867534" w="1786098">
                <a:moveTo>
                  <a:pt x="0" y="0"/>
                </a:moveTo>
                <a:lnTo>
                  <a:pt x="1786098" y="0"/>
                </a:lnTo>
                <a:lnTo>
                  <a:pt x="1786098" y="3867534"/>
                </a:lnTo>
                <a:lnTo>
                  <a:pt x="0" y="3867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254030">
            <a:off x="6099656" y="8789788"/>
            <a:ext cx="2436216" cy="1036499"/>
          </a:xfrm>
          <a:custGeom>
            <a:avLst/>
            <a:gdLst/>
            <a:ahLst/>
            <a:cxnLst/>
            <a:rect r="r" b="b" t="t" l="l"/>
            <a:pathLst>
              <a:path h="1036499" w="2436216">
                <a:moveTo>
                  <a:pt x="2436217" y="0"/>
                </a:moveTo>
                <a:lnTo>
                  <a:pt x="0" y="0"/>
                </a:lnTo>
                <a:lnTo>
                  <a:pt x="0" y="1036500"/>
                </a:lnTo>
                <a:lnTo>
                  <a:pt x="2436217" y="1036500"/>
                </a:lnTo>
                <a:lnTo>
                  <a:pt x="243621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16874">
            <a:off x="16632341" y="-789595"/>
            <a:ext cx="2256571" cy="2920268"/>
          </a:xfrm>
          <a:custGeom>
            <a:avLst/>
            <a:gdLst/>
            <a:ahLst/>
            <a:cxnLst/>
            <a:rect r="r" b="b" t="t" l="l"/>
            <a:pathLst>
              <a:path h="2920268" w="2256571">
                <a:moveTo>
                  <a:pt x="0" y="0"/>
                </a:moveTo>
                <a:lnTo>
                  <a:pt x="2256571" y="0"/>
                </a:lnTo>
                <a:lnTo>
                  <a:pt x="2256571" y="2920268"/>
                </a:lnTo>
                <a:lnTo>
                  <a:pt x="0" y="2920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51459" y="-142124"/>
            <a:ext cx="12589708" cy="2870688"/>
            <a:chOff x="0" y="0"/>
            <a:chExt cx="16786277" cy="3827584"/>
          </a:xfrm>
        </p:grpSpPr>
        <p:sp>
          <p:nvSpPr>
            <p:cNvPr name="Freeform 8" id="8"/>
            <p:cNvSpPr/>
            <p:nvPr/>
          </p:nvSpPr>
          <p:spPr>
            <a:xfrm flipH="false" flipV="false" rot="253246">
              <a:off x="6756044" y="361191"/>
              <a:ext cx="9929427" cy="3105203"/>
            </a:xfrm>
            <a:custGeom>
              <a:avLst/>
              <a:gdLst/>
              <a:ahLst/>
              <a:cxnLst/>
              <a:rect r="r" b="b" t="t" l="l"/>
              <a:pathLst>
                <a:path h="3105203" w="9929427">
                  <a:moveTo>
                    <a:pt x="0" y="0"/>
                  </a:moveTo>
                  <a:lnTo>
                    <a:pt x="9929427" y="0"/>
                  </a:lnTo>
                  <a:lnTo>
                    <a:pt x="9929427" y="3105202"/>
                  </a:lnTo>
                  <a:lnTo>
                    <a:pt x="0" y="3105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229050"/>
              <a:ext cx="15440617" cy="1493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000"/>
                </a:lnSpc>
              </a:pPr>
              <a:r>
                <a:rPr lang="en-US" sz="8000">
                  <a:solidFill>
                    <a:srgbClr val="FEF7E7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INTRODUCTION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287538" y="3433414"/>
            <a:ext cx="14119773" cy="462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4"/>
              </a:lnSpc>
              <a:spcBef>
                <a:spcPct val="0"/>
              </a:spcBef>
            </a:pPr>
            <a:r>
              <a:rPr lang="en-US" sz="4034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CO₂ emissions and public health are closely connected to development.</a:t>
            </a:r>
          </a:p>
          <a:p>
            <a:pPr algn="just">
              <a:lnSpc>
                <a:spcPts val="4034"/>
              </a:lnSpc>
              <a:spcBef>
                <a:spcPct val="0"/>
              </a:spcBef>
            </a:pPr>
            <a:r>
              <a:rPr lang="en-US" sz="4034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We wanted to understand whether higher emissions are linked to different health outcomes.</a:t>
            </a:r>
          </a:p>
          <a:p>
            <a:pPr algn="just">
              <a:lnSpc>
                <a:spcPts val="4034"/>
              </a:lnSpc>
              <a:spcBef>
                <a:spcPct val="0"/>
              </a:spcBef>
            </a:pPr>
            <a:r>
              <a:rPr lang="en-US" sz="4034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We studied four outcomes: air pollution, malaria, life expectancy, and cholera.</a:t>
            </a:r>
          </a:p>
          <a:p>
            <a:pPr algn="just">
              <a:lnSpc>
                <a:spcPts val="4034"/>
              </a:lnSpc>
              <a:spcBef>
                <a:spcPct val="0"/>
              </a:spcBef>
            </a:pPr>
            <a:r>
              <a:rPr lang="en-US" sz="4034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We combined WHO and World Bank data with CO₂, population, and economic indicators.</a:t>
            </a:r>
          </a:p>
          <a:p>
            <a:pPr algn="just">
              <a:lnSpc>
                <a:spcPts val="4034"/>
              </a:lnSpc>
              <a:spcBef>
                <a:spcPct val="0"/>
              </a:spcBef>
            </a:pPr>
            <a:r>
              <a:rPr lang="en-US" sz="4034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We compared countries across income groups and over time.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2494" y="8753406"/>
            <a:ext cx="4222388" cy="1880882"/>
          </a:xfrm>
          <a:custGeom>
            <a:avLst/>
            <a:gdLst/>
            <a:ahLst/>
            <a:cxnLst/>
            <a:rect r="r" b="b" t="t" l="l"/>
            <a:pathLst>
              <a:path h="1880882" w="4222388">
                <a:moveTo>
                  <a:pt x="0" y="0"/>
                </a:moveTo>
                <a:lnTo>
                  <a:pt x="4222388" y="0"/>
                </a:lnTo>
                <a:lnTo>
                  <a:pt x="4222388" y="1880882"/>
                </a:lnTo>
                <a:lnTo>
                  <a:pt x="0" y="1880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00643" y="1587393"/>
            <a:ext cx="6976672" cy="7166013"/>
            <a:chOff x="0" y="0"/>
            <a:chExt cx="9302230" cy="95546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02230" cy="9183838"/>
            </a:xfrm>
            <a:custGeom>
              <a:avLst/>
              <a:gdLst/>
              <a:ahLst/>
              <a:cxnLst/>
              <a:rect r="r" b="b" t="t" l="l"/>
              <a:pathLst>
                <a:path h="9183838" w="9302230">
                  <a:moveTo>
                    <a:pt x="0" y="0"/>
                  </a:moveTo>
                  <a:lnTo>
                    <a:pt x="9302230" y="0"/>
                  </a:lnTo>
                  <a:lnTo>
                    <a:pt x="9302230" y="9183838"/>
                  </a:lnTo>
                  <a:lnTo>
                    <a:pt x="0" y="9183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912661" y="6165116"/>
              <a:ext cx="3389569" cy="3389569"/>
            </a:xfrm>
            <a:custGeom>
              <a:avLst/>
              <a:gdLst/>
              <a:ahLst/>
              <a:cxnLst/>
              <a:rect r="r" b="b" t="t" l="l"/>
              <a:pathLst>
                <a:path h="3389569" w="3389569">
                  <a:moveTo>
                    <a:pt x="0" y="0"/>
                  </a:moveTo>
                  <a:lnTo>
                    <a:pt x="3389569" y="0"/>
                  </a:lnTo>
                  <a:lnTo>
                    <a:pt x="3389569" y="3389568"/>
                  </a:lnTo>
                  <a:lnTo>
                    <a:pt x="0" y="3389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1624621">
            <a:off x="-1526217" y="-1233098"/>
            <a:ext cx="3052433" cy="4114800"/>
          </a:xfrm>
          <a:custGeom>
            <a:avLst/>
            <a:gdLst/>
            <a:ahLst/>
            <a:cxnLst/>
            <a:rect r="r" b="b" t="t" l="l"/>
            <a:pathLst>
              <a:path h="4114800" w="3052433">
                <a:moveTo>
                  <a:pt x="0" y="0"/>
                </a:moveTo>
                <a:lnTo>
                  <a:pt x="3052434" y="0"/>
                </a:lnTo>
                <a:lnTo>
                  <a:pt x="3052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09552" y="2062082"/>
            <a:ext cx="8228499" cy="106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>
                <a:solidFill>
                  <a:srgbClr val="226245"/>
                </a:solidFill>
                <a:latin typeface="Bobby Jones"/>
                <a:ea typeface="Bobby Jones"/>
                <a:cs typeface="Bobby Jones"/>
                <a:sym typeface="Bobby Jones"/>
              </a:rPr>
              <a:t>data sets used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7436654" y="-690734"/>
            <a:ext cx="1910703" cy="1938905"/>
          </a:xfrm>
          <a:custGeom>
            <a:avLst/>
            <a:gdLst/>
            <a:ahLst/>
            <a:cxnLst/>
            <a:rect r="r" b="b" t="t" l="l"/>
            <a:pathLst>
              <a:path h="1938905" w="1910703">
                <a:moveTo>
                  <a:pt x="0" y="0"/>
                </a:moveTo>
                <a:lnTo>
                  <a:pt x="1910703" y="0"/>
                </a:lnTo>
                <a:lnTo>
                  <a:pt x="1910703" y="1938906"/>
                </a:lnTo>
                <a:lnTo>
                  <a:pt x="0" y="1938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3246">
            <a:off x="869331" y="1299593"/>
            <a:ext cx="7447071" cy="2328902"/>
          </a:xfrm>
          <a:custGeom>
            <a:avLst/>
            <a:gdLst/>
            <a:ahLst/>
            <a:cxnLst/>
            <a:rect r="r" b="b" t="t" l="l"/>
            <a:pathLst>
              <a:path h="2328902" w="7447071">
                <a:moveTo>
                  <a:pt x="0" y="0"/>
                </a:moveTo>
                <a:lnTo>
                  <a:pt x="7447070" y="0"/>
                </a:lnTo>
                <a:lnTo>
                  <a:pt x="7447070" y="2328902"/>
                </a:lnTo>
                <a:lnTo>
                  <a:pt x="0" y="23289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4232" y="3823188"/>
            <a:ext cx="10744468" cy="470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  <a:spcBef>
                <a:spcPct val="0"/>
              </a:spcBef>
            </a:pPr>
            <a:r>
              <a:rPr lang="en-US" sz="3345">
                <a:solidFill>
                  <a:srgbClr val="226245"/>
                </a:solidFill>
                <a:latin typeface="Bobby Jones"/>
                <a:ea typeface="Bobby Jones"/>
                <a:cs typeface="Bobby Jones"/>
                <a:sym typeface="Bobby Jones"/>
              </a:rPr>
              <a:t>WHO: Health indicators — air pollution, malaria, life expectancy &amp; cholera</a:t>
            </a:r>
          </a:p>
          <a:p>
            <a:pPr algn="l">
              <a:lnSpc>
                <a:spcPts val="4683"/>
              </a:lnSpc>
              <a:spcBef>
                <a:spcPct val="0"/>
              </a:spcBef>
            </a:pPr>
            <a:r>
              <a:rPr lang="en-US" sz="3345">
                <a:solidFill>
                  <a:srgbClr val="226245"/>
                </a:solidFill>
                <a:latin typeface="Bobby Jones"/>
                <a:ea typeface="Bobby Jones"/>
                <a:cs typeface="Bobby Jones"/>
                <a:sym typeface="Bobby Jones"/>
              </a:rPr>
              <a:t>World Bank: Population, GDP per capita &amp; income group</a:t>
            </a:r>
          </a:p>
          <a:p>
            <a:pPr algn="l">
              <a:lnSpc>
                <a:spcPts val="4683"/>
              </a:lnSpc>
              <a:spcBef>
                <a:spcPct val="0"/>
              </a:spcBef>
            </a:pPr>
            <a:r>
              <a:rPr lang="en-US" sz="3345">
                <a:solidFill>
                  <a:srgbClr val="226245"/>
                </a:solidFill>
                <a:latin typeface="Bobby Jones"/>
                <a:ea typeface="Bobby Jones"/>
                <a:cs typeface="Bobby Jones"/>
                <a:sym typeface="Bobby Jones"/>
              </a:rPr>
              <a:t>CO₂ dataset: Country-level CO₂ emissions</a:t>
            </a:r>
          </a:p>
          <a:p>
            <a:pPr algn="l">
              <a:lnSpc>
                <a:spcPts val="4683"/>
              </a:lnSpc>
              <a:spcBef>
                <a:spcPct val="0"/>
              </a:spcBef>
            </a:pPr>
            <a:r>
              <a:rPr lang="en-US" sz="3345">
                <a:solidFill>
                  <a:srgbClr val="226245"/>
                </a:solidFill>
                <a:latin typeface="Bobby Jones"/>
                <a:ea typeface="Bobby Jones"/>
                <a:cs typeface="Bobby Jones"/>
                <a:sym typeface="Bobby Jones"/>
              </a:rPr>
              <a:t>Data was cleaned, merged and standardized for comparison</a:t>
            </a:r>
          </a:p>
          <a:p>
            <a:pPr algn="l">
              <a:lnSpc>
                <a:spcPts val="4683"/>
              </a:lnSpc>
              <a:spcBef>
                <a:spcPct val="0"/>
              </a:spcBef>
            </a:pPr>
            <a:r>
              <a:rPr lang="en-US" sz="3345">
                <a:solidFill>
                  <a:srgbClr val="226245"/>
                </a:solidFill>
                <a:latin typeface="Bobby Jones"/>
                <a:ea typeface="Bobby Jones"/>
                <a:cs typeface="Bobby Jones"/>
                <a:sym typeface="Bobby Jones"/>
              </a:rPr>
              <a:t>Final analysis used country-level observations and removed regional/income aggregates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9442" y="9007025"/>
            <a:ext cx="21469918" cy="2978490"/>
            <a:chOff x="0" y="0"/>
            <a:chExt cx="1619259" cy="2246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9259" cy="224637"/>
            </a:xfrm>
            <a:custGeom>
              <a:avLst/>
              <a:gdLst/>
              <a:ahLst/>
              <a:cxnLst/>
              <a:rect r="r" b="b" t="t" l="l"/>
              <a:pathLst>
                <a:path h="224637" w="1619259">
                  <a:moveTo>
                    <a:pt x="0" y="0"/>
                  </a:moveTo>
                  <a:lnTo>
                    <a:pt x="1619259" y="0"/>
                  </a:lnTo>
                  <a:lnTo>
                    <a:pt x="1619259" y="224637"/>
                  </a:lnTo>
                  <a:lnTo>
                    <a:pt x="0" y="224637"/>
                  </a:lnTo>
                  <a:close/>
                </a:path>
              </a:pathLst>
            </a:custGeom>
            <a:solidFill>
              <a:srgbClr val="ABC3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19259" cy="262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6688639"/>
            <a:ext cx="3998179" cy="3598361"/>
          </a:xfrm>
          <a:custGeom>
            <a:avLst/>
            <a:gdLst/>
            <a:ahLst/>
            <a:cxnLst/>
            <a:rect r="r" b="b" t="t" l="l"/>
            <a:pathLst>
              <a:path h="3598361" w="3998179">
                <a:moveTo>
                  <a:pt x="0" y="0"/>
                </a:moveTo>
                <a:lnTo>
                  <a:pt x="3998179" y="0"/>
                </a:lnTo>
                <a:lnTo>
                  <a:pt x="3998179" y="3598361"/>
                </a:lnTo>
                <a:lnTo>
                  <a:pt x="0" y="3598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39710" y="-271231"/>
            <a:ext cx="3439179" cy="3276600"/>
          </a:xfrm>
          <a:custGeom>
            <a:avLst/>
            <a:gdLst/>
            <a:ahLst/>
            <a:cxnLst/>
            <a:rect r="r" b="b" t="t" l="l"/>
            <a:pathLst>
              <a:path h="3276600" w="3439179">
                <a:moveTo>
                  <a:pt x="0" y="0"/>
                </a:moveTo>
                <a:lnTo>
                  <a:pt x="3439180" y="0"/>
                </a:lnTo>
                <a:lnTo>
                  <a:pt x="3439180" y="3276600"/>
                </a:lnTo>
                <a:lnTo>
                  <a:pt x="0" y="3276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00354">
            <a:off x="-785152" y="-87561"/>
            <a:ext cx="2271861" cy="3451723"/>
          </a:xfrm>
          <a:custGeom>
            <a:avLst/>
            <a:gdLst/>
            <a:ahLst/>
            <a:cxnLst/>
            <a:rect r="r" b="b" t="t" l="l"/>
            <a:pathLst>
              <a:path h="3451723" w="2271861">
                <a:moveTo>
                  <a:pt x="0" y="0"/>
                </a:moveTo>
                <a:lnTo>
                  <a:pt x="2271861" y="0"/>
                </a:lnTo>
                <a:lnTo>
                  <a:pt x="2271861" y="3451722"/>
                </a:lnTo>
                <a:lnTo>
                  <a:pt x="0" y="34517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51798">
            <a:off x="12346945" y="8482031"/>
            <a:ext cx="2254269" cy="3512317"/>
          </a:xfrm>
          <a:custGeom>
            <a:avLst/>
            <a:gdLst/>
            <a:ahLst/>
            <a:cxnLst/>
            <a:rect r="r" b="b" t="t" l="l"/>
            <a:pathLst>
              <a:path h="3512317" w="2254269">
                <a:moveTo>
                  <a:pt x="0" y="0"/>
                </a:moveTo>
                <a:lnTo>
                  <a:pt x="2254269" y="0"/>
                </a:lnTo>
                <a:lnTo>
                  <a:pt x="2254269" y="3512317"/>
                </a:lnTo>
                <a:lnTo>
                  <a:pt x="0" y="35123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74159" y="1714500"/>
            <a:ext cx="3428163" cy="59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2"/>
              </a:lnSpc>
            </a:pPr>
            <a:r>
              <a:rPr lang="en-US" sz="4402">
                <a:solidFill>
                  <a:srgbClr val="226245"/>
                </a:solidFill>
                <a:latin typeface="Bobby Jones"/>
                <a:ea typeface="Bobby Jones"/>
                <a:cs typeface="Bobby Jones"/>
                <a:sym typeface="Bobby Jones"/>
              </a:rPr>
              <a:t>first Attempt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54852" y="817114"/>
            <a:ext cx="11466778" cy="821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solidFill>
                  <a:srgbClr val="E0614A"/>
                </a:solidFill>
                <a:latin typeface="Bobby Jones"/>
                <a:ea typeface="Bobby Jones"/>
                <a:cs typeface="Bobby Jones"/>
                <a:sym typeface="Bobby Jones"/>
              </a:rPr>
              <a:t>We Started With a Simple Question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253246">
            <a:off x="2386672" y="-957192"/>
            <a:ext cx="12700474" cy="3971785"/>
          </a:xfrm>
          <a:custGeom>
            <a:avLst/>
            <a:gdLst/>
            <a:ahLst/>
            <a:cxnLst/>
            <a:rect r="r" b="b" t="t" l="l"/>
            <a:pathLst>
              <a:path h="3971785" w="12700474">
                <a:moveTo>
                  <a:pt x="0" y="0"/>
                </a:moveTo>
                <a:lnTo>
                  <a:pt x="12700474" y="0"/>
                </a:lnTo>
                <a:lnTo>
                  <a:pt x="12700474" y="3971784"/>
                </a:lnTo>
                <a:lnTo>
                  <a:pt x="0" y="3971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80958" y="3662960"/>
            <a:ext cx="10614565" cy="405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5098" indent="-387549" lvl="1">
              <a:lnSpc>
                <a:spcPts val="3590"/>
              </a:lnSpc>
              <a:buFont typeface="Arial"/>
              <a:buChar char="•"/>
            </a:pPr>
            <a:r>
              <a:rPr lang="en-US" sz="3590">
                <a:solidFill>
                  <a:srgbClr val="4D4F54">
                    <a:alpha val="80784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We explored how CO₂ emissions relate to population health.</a:t>
            </a:r>
          </a:p>
          <a:p>
            <a:pPr algn="just" marL="775098" indent="-387549" lvl="1">
              <a:lnSpc>
                <a:spcPts val="3590"/>
              </a:lnSpc>
              <a:buFont typeface="Arial"/>
              <a:buChar char="•"/>
            </a:pPr>
            <a:r>
              <a:rPr lang="en-US" sz="3590">
                <a:solidFill>
                  <a:srgbClr val="4D4F54">
                    <a:alpha val="80784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We focused on four outcomes: air pollution, malaria, life expectancy, and cholera.</a:t>
            </a:r>
          </a:p>
          <a:p>
            <a:pPr algn="just" marL="775098" indent="-387549" lvl="1">
              <a:lnSpc>
                <a:spcPts val="3590"/>
              </a:lnSpc>
              <a:buFont typeface="Arial"/>
              <a:buChar char="•"/>
            </a:pPr>
            <a:r>
              <a:rPr lang="en-US" sz="3590">
                <a:solidFill>
                  <a:srgbClr val="4D4F54">
                    <a:alpha val="80784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We combined health, emissions, population, and economic data.</a:t>
            </a:r>
          </a:p>
          <a:p>
            <a:pPr algn="just" marL="775098" indent="-387549" lvl="1">
              <a:lnSpc>
                <a:spcPts val="3590"/>
              </a:lnSpc>
              <a:buFont typeface="Arial"/>
              <a:buChar char="•"/>
            </a:pPr>
            <a:r>
              <a:rPr lang="en-US" sz="3590">
                <a:solidFill>
                  <a:srgbClr val="4D4F54">
                    <a:alpha val="80784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Our starting question: Do countries with higher CO₂ emissions show different health outcomes?</a:t>
            </a:r>
          </a:p>
          <a:p>
            <a:pPr algn="just">
              <a:lnSpc>
                <a:spcPts val="359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39462" y="8203713"/>
            <a:ext cx="2819403" cy="2819403"/>
          </a:xfrm>
          <a:custGeom>
            <a:avLst/>
            <a:gdLst/>
            <a:ahLst/>
            <a:cxnLst/>
            <a:rect r="r" b="b" t="t" l="l"/>
            <a:pathLst>
              <a:path h="2819403" w="2819403">
                <a:moveTo>
                  <a:pt x="0" y="0"/>
                </a:moveTo>
                <a:lnTo>
                  <a:pt x="2819403" y="0"/>
                </a:lnTo>
                <a:lnTo>
                  <a:pt x="2819403" y="2819403"/>
                </a:lnTo>
                <a:lnTo>
                  <a:pt x="0" y="2819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41321">
            <a:off x="7534091" y="9000580"/>
            <a:ext cx="3986235" cy="4045073"/>
          </a:xfrm>
          <a:custGeom>
            <a:avLst/>
            <a:gdLst/>
            <a:ahLst/>
            <a:cxnLst/>
            <a:rect r="r" b="b" t="t" l="l"/>
            <a:pathLst>
              <a:path h="4045073" w="3986235">
                <a:moveTo>
                  <a:pt x="0" y="0"/>
                </a:moveTo>
                <a:lnTo>
                  <a:pt x="3986236" y="0"/>
                </a:lnTo>
                <a:lnTo>
                  <a:pt x="3986236" y="4045073"/>
                </a:lnTo>
                <a:lnTo>
                  <a:pt x="0" y="4045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93284" y="790788"/>
            <a:ext cx="1521744" cy="646589"/>
          </a:xfrm>
          <a:custGeom>
            <a:avLst/>
            <a:gdLst/>
            <a:ahLst/>
            <a:cxnLst/>
            <a:rect r="r" b="b" t="t" l="l"/>
            <a:pathLst>
              <a:path h="646589" w="1521744">
                <a:moveTo>
                  <a:pt x="0" y="0"/>
                </a:moveTo>
                <a:lnTo>
                  <a:pt x="1521744" y="0"/>
                </a:lnTo>
                <a:lnTo>
                  <a:pt x="1521744" y="646589"/>
                </a:lnTo>
                <a:lnTo>
                  <a:pt x="0" y="6465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51496" t="0" r="0" b="-26850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698">
            <a:off x="3269914" y="8979591"/>
            <a:ext cx="2494514" cy="2344786"/>
          </a:xfrm>
          <a:custGeom>
            <a:avLst/>
            <a:gdLst/>
            <a:ahLst/>
            <a:cxnLst/>
            <a:rect r="r" b="b" t="t" l="l"/>
            <a:pathLst>
              <a:path h="2344786" w="2494514">
                <a:moveTo>
                  <a:pt x="0" y="0"/>
                </a:moveTo>
                <a:lnTo>
                  <a:pt x="2494515" y="0"/>
                </a:lnTo>
                <a:lnTo>
                  <a:pt x="2494515" y="2344786"/>
                </a:lnTo>
                <a:lnTo>
                  <a:pt x="0" y="23447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162951" b="-156345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911677" y="-736116"/>
            <a:ext cx="11347123" cy="11759233"/>
            <a:chOff x="0" y="0"/>
            <a:chExt cx="784315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4315" cy="812800"/>
            </a:xfrm>
            <a:custGeom>
              <a:avLst/>
              <a:gdLst/>
              <a:ahLst/>
              <a:cxnLst/>
              <a:rect r="r" b="b" t="t" l="l"/>
              <a:pathLst>
                <a:path h="812800" w="784315">
                  <a:moveTo>
                    <a:pt x="392157" y="0"/>
                  </a:moveTo>
                  <a:cubicBezTo>
                    <a:pt x="175575" y="0"/>
                    <a:pt x="0" y="181951"/>
                    <a:pt x="0" y="406400"/>
                  </a:cubicBezTo>
                  <a:cubicBezTo>
                    <a:pt x="0" y="630849"/>
                    <a:pt x="175575" y="812800"/>
                    <a:pt x="392157" y="812800"/>
                  </a:cubicBezTo>
                  <a:cubicBezTo>
                    <a:pt x="608740" y="812800"/>
                    <a:pt x="784315" y="630849"/>
                    <a:pt x="784315" y="406400"/>
                  </a:cubicBezTo>
                  <a:cubicBezTo>
                    <a:pt x="784315" y="181951"/>
                    <a:pt x="608740" y="0"/>
                    <a:pt x="392157" y="0"/>
                  </a:cubicBezTo>
                  <a:close/>
                </a:path>
              </a:pathLst>
            </a:custGeom>
            <a:solidFill>
              <a:srgbClr val="ABC33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3530" y="38100"/>
              <a:ext cx="63725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375698">
            <a:off x="16753129" y="129043"/>
            <a:ext cx="2494514" cy="2344786"/>
          </a:xfrm>
          <a:custGeom>
            <a:avLst/>
            <a:gdLst/>
            <a:ahLst/>
            <a:cxnLst/>
            <a:rect r="r" b="b" t="t" l="l"/>
            <a:pathLst>
              <a:path h="2344786" w="2494514">
                <a:moveTo>
                  <a:pt x="0" y="0"/>
                </a:moveTo>
                <a:lnTo>
                  <a:pt x="2494514" y="0"/>
                </a:lnTo>
                <a:lnTo>
                  <a:pt x="2494514" y="2344786"/>
                </a:lnTo>
                <a:lnTo>
                  <a:pt x="0" y="2344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162951" b="-15634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11677" y="1028700"/>
            <a:ext cx="2284958" cy="970879"/>
          </a:xfrm>
          <a:custGeom>
            <a:avLst/>
            <a:gdLst/>
            <a:ahLst/>
            <a:cxnLst/>
            <a:rect r="r" b="b" t="t" l="l"/>
            <a:pathLst>
              <a:path h="970879" w="2284958">
                <a:moveTo>
                  <a:pt x="0" y="0"/>
                </a:moveTo>
                <a:lnTo>
                  <a:pt x="2284958" y="0"/>
                </a:lnTo>
                <a:lnTo>
                  <a:pt x="2284958" y="970879"/>
                </a:lnTo>
                <a:lnTo>
                  <a:pt x="0" y="9708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51496" t="0" r="0" b="-26850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509403" y="-483075"/>
            <a:ext cx="8454869" cy="3194314"/>
            <a:chOff x="0" y="0"/>
            <a:chExt cx="11273159" cy="425908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1485644" y="1277203"/>
              <a:ext cx="9152207" cy="1942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43"/>
                </a:lnSpc>
              </a:pPr>
              <a:r>
                <a:rPr lang="en-US" sz="5443">
                  <a:solidFill>
                    <a:srgbClr val="226245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The First Number That Made Us Pause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253246">
              <a:off x="112170" y="401909"/>
              <a:ext cx="11048818" cy="3455267"/>
            </a:xfrm>
            <a:custGeom>
              <a:avLst/>
              <a:gdLst/>
              <a:ahLst/>
              <a:cxnLst/>
              <a:rect r="r" b="b" t="t" l="l"/>
              <a:pathLst>
                <a:path h="3455267" w="11048818">
                  <a:moveTo>
                    <a:pt x="0" y="0"/>
                  </a:moveTo>
                  <a:lnTo>
                    <a:pt x="11048818" y="0"/>
                  </a:lnTo>
                  <a:lnTo>
                    <a:pt x="11048818" y="3455267"/>
                  </a:lnTo>
                  <a:lnTo>
                    <a:pt x="0" y="3455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3378267" y="2191305"/>
            <a:ext cx="4385895" cy="7189992"/>
          </a:xfrm>
          <a:custGeom>
            <a:avLst/>
            <a:gdLst/>
            <a:ahLst/>
            <a:cxnLst/>
            <a:rect r="r" b="b" t="t" l="l"/>
            <a:pathLst>
              <a:path h="7189992" w="4385895">
                <a:moveTo>
                  <a:pt x="0" y="0"/>
                </a:moveTo>
                <a:lnTo>
                  <a:pt x="4385895" y="0"/>
                </a:lnTo>
                <a:lnTo>
                  <a:pt x="4385895" y="7189992"/>
                </a:lnTo>
                <a:lnTo>
                  <a:pt x="0" y="718999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2717649"/>
            <a:ext cx="11584754" cy="495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8935" indent="-384467" lvl="1">
              <a:lnSpc>
                <a:spcPts val="3561"/>
              </a:lnSpc>
              <a:buFont typeface="Arial"/>
              <a:buChar char="•"/>
            </a:pPr>
            <a:r>
              <a:rPr lang="en-US" sz="3561">
                <a:solidFill>
                  <a:srgbClr val="C07057">
                    <a:alpha val="82745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W</a:t>
            </a:r>
            <a:r>
              <a:rPr lang="en-US" sz="3561">
                <a:solidFill>
                  <a:srgbClr val="C07057">
                    <a:alpha val="82745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e began by checking whether the datasets could be merged into one complete country-year table.</a:t>
            </a:r>
          </a:p>
          <a:p>
            <a:pPr algn="l" marL="768935" indent="-384467" lvl="1">
              <a:lnSpc>
                <a:spcPts val="3561"/>
              </a:lnSpc>
              <a:buFont typeface="Arial"/>
              <a:buChar char="•"/>
            </a:pPr>
            <a:r>
              <a:rPr lang="en-US" sz="3561">
                <a:solidFill>
                  <a:srgbClr val="C07057">
                    <a:alpha val="82745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The first complete-data check returned 0 rows across all four health indicators.</a:t>
            </a:r>
          </a:p>
          <a:p>
            <a:pPr algn="l" marL="768935" indent="-384467" lvl="1">
              <a:lnSpc>
                <a:spcPts val="3561"/>
              </a:lnSpc>
              <a:buFont typeface="Arial"/>
              <a:buChar char="•"/>
            </a:pPr>
            <a:r>
              <a:rPr lang="en-US" sz="3561">
                <a:solidFill>
                  <a:srgbClr val="C07057">
                    <a:alpha val="82745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Data availability varied sharply by outcome:</a:t>
            </a:r>
          </a:p>
          <a:p>
            <a:pPr algn="l" marL="768935" indent="-384467" lvl="1">
              <a:lnSpc>
                <a:spcPts val="3561"/>
              </a:lnSpc>
              <a:buFont typeface="Arial"/>
              <a:buChar char="•"/>
            </a:pPr>
            <a:r>
              <a:rPr lang="en-US" sz="3561">
                <a:solidFill>
                  <a:srgbClr val="C07057">
                    <a:alpha val="82745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Malaria + CO₂: 2,651 observations</a:t>
            </a:r>
          </a:p>
          <a:p>
            <a:pPr algn="l" marL="768935" indent="-384467" lvl="1">
              <a:lnSpc>
                <a:spcPts val="3561"/>
              </a:lnSpc>
              <a:buFont typeface="Arial"/>
              <a:buChar char="•"/>
            </a:pPr>
            <a:r>
              <a:rPr lang="en-US" sz="3561">
                <a:solidFill>
                  <a:srgbClr val="C07057">
                    <a:alpha val="82745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Life expectancy + CO₂: 3,982 observations</a:t>
            </a:r>
          </a:p>
          <a:p>
            <a:pPr algn="l" marL="768935" indent="-384467" lvl="1">
              <a:lnSpc>
                <a:spcPts val="3561"/>
              </a:lnSpc>
              <a:buFont typeface="Arial"/>
              <a:buChar char="•"/>
            </a:pPr>
            <a:r>
              <a:rPr lang="en-US" sz="3561">
                <a:solidFill>
                  <a:srgbClr val="C07057">
                    <a:alpha val="82745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Cholera + CO₂: 213 observations</a:t>
            </a:r>
          </a:p>
          <a:p>
            <a:pPr algn="l" marL="768935" indent="-384467" lvl="1">
              <a:lnSpc>
                <a:spcPts val="3561"/>
              </a:lnSpc>
              <a:buFont typeface="Arial"/>
              <a:buChar char="•"/>
            </a:pPr>
            <a:r>
              <a:rPr lang="en-US" sz="3561">
                <a:solidFill>
                  <a:srgbClr val="C07057">
                    <a:alpha val="82745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Air pollution + CO₂: 181 observations</a:t>
            </a:r>
          </a:p>
          <a:p>
            <a:pPr algn="l" marL="768935" indent="-384467" lvl="1">
              <a:lnSpc>
                <a:spcPts val="3561"/>
              </a:lnSpc>
              <a:buFont typeface="Arial"/>
              <a:buChar char="•"/>
            </a:pPr>
            <a:r>
              <a:rPr lang="en-US" sz="3561">
                <a:solidFill>
                  <a:srgbClr val="C07057">
                    <a:alpha val="82745"/>
                  </a:srgbClr>
                </a:solidFill>
                <a:latin typeface="Bobby Jones"/>
                <a:ea typeface="Bobby Jones"/>
                <a:cs typeface="Bobby Jones"/>
                <a:sym typeface="Bobby Jones"/>
              </a:rPr>
              <a:t>This raised our first question: Were we actually working with comparable and reliable data?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C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0954">
            <a:off x="338037" y="-147171"/>
            <a:ext cx="1612012" cy="2351742"/>
          </a:xfrm>
          <a:custGeom>
            <a:avLst/>
            <a:gdLst/>
            <a:ahLst/>
            <a:cxnLst/>
            <a:rect r="r" b="b" t="t" l="l"/>
            <a:pathLst>
              <a:path h="2351742" w="1612012">
                <a:moveTo>
                  <a:pt x="0" y="0"/>
                </a:moveTo>
                <a:lnTo>
                  <a:pt x="1612012" y="0"/>
                </a:lnTo>
                <a:lnTo>
                  <a:pt x="1612012" y="2351742"/>
                </a:lnTo>
                <a:lnTo>
                  <a:pt x="0" y="2351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80533">
            <a:off x="16332241" y="-1114366"/>
            <a:ext cx="1982602" cy="2847078"/>
          </a:xfrm>
          <a:custGeom>
            <a:avLst/>
            <a:gdLst/>
            <a:ahLst/>
            <a:cxnLst/>
            <a:rect r="r" b="b" t="t" l="l"/>
            <a:pathLst>
              <a:path h="2847078" w="1982602">
                <a:moveTo>
                  <a:pt x="0" y="0"/>
                </a:moveTo>
                <a:lnTo>
                  <a:pt x="1982602" y="0"/>
                </a:lnTo>
                <a:lnTo>
                  <a:pt x="1982602" y="2847078"/>
                </a:lnTo>
                <a:lnTo>
                  <a:pt x="0" y="2847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854246">
            <a:off x="316403" y="8922263"/>
            <a:ext cx="1424595" cy="1445622"/>
          </a:xfrm>
          <a:custGeom>
            <a:avLst/>
            <a:gdLst/>
            <a:ahLst/>
            <a:cxnLst/>
            <a:rect r="r" b="b" t="t" l="l"/>
            <a:pathLst>
              <a:path h="1445622" w="1424595">
                <a:moveTo>
                  <a:pt x="0" y="0"/>
                </a:moveTo>
                <a:lnTo>
                  <a:pt x="1424594" y="0"/>
                </a:lnTo>
                <a:lnTo>
                  <a:pt x="1424594" y="1445622"/>
                </a:lnTo>
                <a:lnTo>
                  <a:pt x="0" y="144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698">
            <a:off x="16422301" y="8472681"/>
            <a:ext cx="2494514" cy="2344786"/>
          </a:xfrm>
          <a:custGeom>
            <a:avLst/>
            <a:gdLst/>
            <a:ahLst/>
            <a:cxnLst/>
            <a:rect r="r" b="b" t="t" l="l"/>
            <a:pathLst>
              <a:path h="2344786" w="2494514">
                <a:moveTo>
                  <a:pt x="0" y="0"/>
                </a:moveTo>
                <a:lnTo>
                  <a:pt x="2494515" y="0"/>
                </a:lnTo>
                <a:lnTo>
                  <a:pt x="2494515" y="2344786"/>
                </a:lnTo>
                <a:lnTo>
                  <a:pt x="0" y="23447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162951" b="-156345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21244" y="-504446"/>
            <a:ext cx="8116011" cy="3066291"/>
            <a:chOff x="0" y="0"/>
            <a:chExt cx="10821349" cy="408838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307863" y="1281757"/>
              <a:ext cx="7660938" cy="1854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09"/>
                </a:lnSpc>
              </a:pPr>
              <a:r>
                <a:rPr lang="en-US" sz="5209">
                  <a:solidFill>
                    <a:srgbClr val="FEF7E7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The Graph Made the Problem Visible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253246">
              <a:off x="107675" y="385801"/>
              <a:ext cx="10605999" cy="3316785"/>
            </a:xfrm>
            <a:custGeom>
              <a:avLst/>
              <a:gdLst/>
              <a:ahLst/>
              <a:cxnLst/>
              <a:rect r="r" b="b" t="t" l="l"/>
              <a:pathLst>
                <a:path h="3316785" w="10605999">
                  <a:moveTo>
                    <a:pt x="0" y="0"/>
                  </a:moveTo>
                  <a:lnTo>
                    <a:pt x="10605999" y="0"/>
                  </a:lnTo>
                  <a:lnTo>
                    <a:pt x="10605999" y="3316786"/>
                  </a:lnTo>
                  <a:lnTo>
                    <a:pt x="0" y="3316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25757" y="2561846"/>
            <a:ext cx="7524223" cy="5306673"/>
          </a:xfrm>
          <a:custGeom>
            <a:avLst/>
            <a:gdLst/>
            <a:ahLst/>
            <a:cxnLst/>
            <a:rect r="r" b="b" t="t" l="l"/>
            <a:pathLst>
              <a:path h="5306673" w="7524223">
                <a:moveTo>
                  <a:pt x="0" y="0"/>
                </a:moveTo>
                <a:lnTo>
                  <a:pt x="7524223" y="0"/>
                </a:lnTo>
                <a:lnTo>
                  <a:pt x="7524223" y="5306673"/>
                </a:lnTo>
                <a:lnTo>
                  <a:pt x="0" y="530667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34129" y="2571371"/>
            <a:ext cx="7596703" cy="5275353"/>
          </a:xfrm>
          <a:custGeom>
            <a:avLst/>
            <a:gdLst/>
            <a:ahLst/>
            <a:cxnLst/>
            <a:rect r="r" b="b" t="t" l="l"/>
            <a:pathLst>
              <a:path h="5275353" w="7596703">
                <a:moveTo>
                  <a:pt x="0" y="0"/>
                </a:moveTo>
                <a:lnTo>
                  <a:pt x="7596703" y="0"/>
                </a:lnTo>
                <a:lnTo>
                  <a:pt x="7596703" y="5275352"/>
                </a:lnTo>
                <a:lnTo>
                  <a:pt x="0" y="52753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251" t="-818" r="0" b="-193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63402" y="8381738"/>
            <a:ext cx="12417980" cy="124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7"/>
              </a:lnSpc>
              <a:spcBef>
                <a:spcPct val="0"/>
              </a:spcBef>
            </a:pPr>
            <a:r>
              <a:rPr lang="en-US" sz="2417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The initial CO₂–health graphs showed unexpected patterns and extreme values.</a:t>
            </a:r>
          </a:p>
          <a:p>
            <a:pPr algn="ctr">
              <a:lnSpc>
                <a:spcPts val="2417"/>
              </a:lnSpc>
              <a:spcBef>
                <a:spcPct val="0"/>
              </a:spcBef>
            </a:pPr>
            <a:r>
              <a:rPr lang="en-US" sz="2417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Some values were far too large or suspiciously uniform.</a:t>
            </a:r>
          </a:p>
          <a:p>
            <a:pPr algn="ctr">
              <a:lnSpc>
                <a:spcPts val="2417"/>
              </a:lnSpc>
              <a:spcBef>
                <a:spcPct val="0"/>
              </a:spcBef>
            </a:pPr>
            <a:r>
              <a:rPr lang="en-US" sz="2417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The results made us question whether the issue was with the data, the calculations, or both.</a:t>
            </a:r>
          </a:p>
          <a:p>
            <a:pPr algn="ctr">
              <a:lnSpc>
                <a:spcPts val="2417"/>
              </a:lnSpc>
              <a:spcBef>
                <a:spcPct val="0"/>
              </a:spcBef>
            </a:pPr>
            <a:r>
              <a:rPr lang="en-US" sz="2417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Before interpreting the relationships, we needed to investigate the underlying variables.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50062" y="2001098"/>
            <a:ext cx="8014697" cy="10121609"/>
            <a:chOff x="0" y="0"/>
            <a:chExt cx="10686263" cy="1349547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664339" y="4473554"/>
              <a:ext cx="9021924" cy="9021924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9B23B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14797" cy="9271060"/>
            </a:xfrm>
            <a:custGeom>
              <a:avLst/>
              <a:gdLst/>
              <a:ahLst/>
              <a:cxnLst/>
              <a:rect r="r" b="b" t="t" l="l"/>
              <a:pathLst>
                <a:path h="9271060" w="8714797">
                  <a:moveTo>
                    <a:pt x="0" y="0"/>
                  </a:moveTo>
                  <a:lnTo>
                    <a:pt x="8714797" y="0"/>
                  </a:lnTo>
                  <a:lnTo>
                    <a:pt x="8714797" y="9271060"/>
                  </a:lnTo>
                  <a:lnTo>
                    <a:pt x="0" y="9271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10322" y="-645117"/>
            <a:ext cx="1339741" cy="2346680"/>
          </a:xfrm>
          <a:custGeom>
            <a:avLst/>
            <a:gdLst/>
            <a:ahLst/>
            <a:cxnLst/>
            <a:rect r="r" b="b" t="t" l="l"/>
            <a:pathLst>
              <a:path h="2346680" w="1339741">
                <a:moveTo>
                  <a:pt x="0" y="0"/>
                </a:moveTo>
                <a:lnTo>
                  <a:pt x="1339740" y="0"/>
                </a:lnTo>
                <a:lnTo>
                  <a:pt x="1339740" y="2346680"/>
                </a:lnTo>
                <a:lnTo>
                  <a:pt x="0" y="2346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088700">
            <a:off x="16960719" y="-1270176"/>
            <a:ext cx="4027454" cy="5429166"/>
          </a:xfrm>
          <a:custGeom>
            <a:avLst/>
            <a:gdLst/>
            <a:ahLst/>
            <a:cxnLst/>
            <a:rect r="r" b="b" t="t" l="l"/>
            <a:pathLst>
              <a:path h="5429166" w="4027454">
                <a:moveTo>
                  <a:pt x="0" y="0"/>
                </a:moveTo>
                <a:lnTo>
                  <a:pt x="4027454" y="0"/>
                </a:lnTo>
                <a:lnTo>
                  <a:pt x="4027454" y="5429166"/>
                </a:lnTo>
                <a:lnTo>
                  <a:pt x="0" y="5429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96045" y="8741199"/>
            <a:ext cx="2992089" cy="1713651"/>
          </a:xfrm>
          <a:custGeom>
            <a:avLst/>
            <a:gdLst/>
            <a:ahLst/>
            <a:cxnLst/>
            <a:rect r="r" b="b" t="t" l="l"/>
            <a:pathLst>
              <a:path h="1713651" w="2992089">
                <a:moveTo>
                  <a:pt x="0" y="0"/>
                </a:moveTo>
                <a:lnTo>
                  <a:pt x="2992090" y="0"/>
                </a:lnTo>
                <a:lnTo>
                  <a:pt x="2992090" y="1713652"/>
                </a:lnTo>
                <a:lnTo>
                  <a:pt x="0" y="1713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79191" y="766135"/>
            <a:ext cx="2284958" cy="970879"/>
          </a:xfrm>
          <a:custGeom>
            <a:avLst/>
            <a:gdLst/>
            <a:ahLst/>
            <a:cxnLst/>
            <a:rect r="r" b="b" t="t" l="l"/>
            <a:pathLst>
              <a:path h="970879" w="2284958">
                <a:moveTo>
                  <a:pt x="0" y="0"/>
                </a:moveTo>
                <a:lnTo>
                  <a:pt x="2284958" y="0"/>
                </a:lnTo>
                <a:lnTo>
                  <a:pt x="2284958" y="970879"/>
                </a:lnTo>
                <a:lnTo>
                  <a:pt x="0" y="9708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51496" t="0" r="0" b="-26850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4847" y="528223"/>
            <a:ext cx="1521744" cy="646589"/>
          </a:xfrm>
          <a:custGeom>
            <a:avLst/>
            <a:gdLst/>
            <a:ahLst/>
            <a:cxnLst/>
            <a:rect r="r" b="b" t="t" l="l"/>
            <a:pathLst>
              <a:path h="646589" w="1521744">
                <a:moveTo>
                  <a:pt x="0" y="0"/>
                </a:moveTo>
                <a:lnTo>
                  <a:pt x="1521744" y="0"/>
                </a:lnTo>
                <a:lnTo>
                  <a:pt x="1521744" y="646589"/>
                </a:lnTo>
                <a:lnTo>
                  <a:pt x="0" y="6465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51496" t="0" r="0" b="-26850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67039" y="0"/>
            <a:ext cx="8072814" cy="2964949"/>
            <a:chOff x="0" y="0"/>
            <a:chExt cx="10763752" cy="395326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618086" y="1032001"/>
              <a:ext cx="9145667" cy="19344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22"/>
                </a:lnSpc>
              </a:pPr>
              <a:r>
                <a:rPr lang="en-US" sz="5422">
                  <a:solidFill>
                    <a:srgbClr val="226245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What Was Actually Going Wrong?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253246">
              <a:off x="104116" y="373051"/>
              <a:ext cx="10255467" cy="3207164"/>
            </a:xfrm>
            <a:custGeom>
              <a:avLst/>
              <a:gdLst/>
              <a:ahLst/>
              <a:cxnLst/>
              <a:rect r="r" b="b" t="t" l="l"/>
              <a:pathLst>
                <a:path h="3207164" w="10255467">
                  <a:moveTo>
                    <a:pt x="0" y="0"/>
                  </a:moveTo>
                  <a:lnTo>
                    <a:pt x="10255468" y="0"/>
                  </a:lnTo>
                  <a:lnTo>
                    <a:pt x="10255468" y="3207164"/>
                  </a:lnTo>
                  <a:lnTo>
                    <a:pt x="0" y="3207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19556" y="3462959"/>
            <a:ext cx="10870508" cy="472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7"/>
              </a:lnSpc>
              <a:spcBef>
                <a:spcPct val="0"/>
              </a:spcBef>
            </a:pPr>
            <a:r>
              <a:rPr lang="en-US" sz="2698">
                <a:solidFill>
                  <a:srgbClr val="E0614A"/>
                </a:solidFill>
                <a:latin typeface="Bobby Jones"/>
                <a:ea typeface="Bobby Jones"/>
                <a:cs typeface="Bobby Jones"/>
                <a:sym typeface="Bobby Jones"/>
              </a:rPr>
              <a:t>Data Preparati</a:t>
            </a:r>
            <a:r>
              <a:rPr lang="en-US" sz="2698">
                <a:solidFill>
                  <a:srgbClr val="E0614A"/>
                </a:solidFill>
                <a:latin typeface="Bobby Jones"/>
                <a:ea typeface="Bobby Jones"/>
                <a:cs typeface="Bobby Jones"/>
                <a:sym typeface="Bobby Jones"/>
              </a:rPr>
              <a:t>on Challenges</a:t>
            </a:r>
          </a:p>
          <a:p>
            <a:pPr algn="l" marL="582564" indent="-291282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>
                <a:solidFill>
                  <a:srgbClr val="E0614A"/>
                </a:solidFill>
                <a:latin typeface="Bobby Jones"/>
                <a:ea typeface="Bobby Jones"/>
                <a:cs typeface="Bobby Jones"/>
                <a:sym typeface="Bobby Jones"/>
              </a:rPr>
              <a:t>Data restructuring: WHO &amp; World Bank data had to be cleaned and filtered at the country level.</a:t>
            </a:r>
          </a:p>
          <a:p>
            <a:pPr algn="l" marL="582564" indent="-291282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>
                <a:solidFill>
                  <a:srgbClr val="E0614A"/>
                </a:solidFill>
                <a:latin typeface="Bobby Jones"/>
                <a:ea typeface="Bobby Jones"/>
                <a:cs typeface="Bobby Jones"/>
                <a:sym typeface="Bobby Jones"/>
              </a:rPr>
              <a:t>Indicator issues: Discontinued cholera data and limited air-pollution data required replacements.</a:t>
            </a:r>
          </a:p>
          <a:p>
            <a:pPr algn="l" marL="582564" indent="-291282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>
                <a:solidFill>
                  <a:srgbClr val="E0614A"/>
                </a:solidFill>
                <a:latin typeface="Bobby Jones"/>
                <a:ea typeface="Bobby Jones"/>
                <a:cs typeface="Bobby Jones"/>
                <a:sym typeface="Bobby Jones"/>
              </a:rPr>
              <a:t>Calculation error: Population was incorrectly taken from the CO₂ dataset, affecting per-capita values.</a:t>
            </a:r>
          </a:p>
          <a:p>
            <a:pPr algn="l" marL="582564" indent="-291282" lvl="1">
              <a:lnSpc>
                <a:spcPts val="3777"/>
              </a:lnSpc>
              <a:spcBef>
                <a:spcPct val="0"/>
              </a:spcBef>
              <a:buFont typeface="Arial"/>
              <a:buChar char="•"/>
            </a:pPr>
            <a:r>
              <a:rPr lang="en-US" sz="2698">
                <a:solidFill>
                  <a:srgbClr val="E0614A"/>
                </a:solidFill>
                <a:latin typeface="Bobby Jones"/>
                <a:ea typeface="Bobby Jones"/>
                <a:cs typeface="Bobby Jones"/>
                <a:sym typeface="Bobby Jones"/>
              </a:rPr>
              <a:t>Comparability: Data was standardized into per-100k health rates and per-capita CO₂, with GDP and income group added for context.</a:t>
            </a:r>
          </a:p>
          <a:p>
            <a:pPr algn="l">
              <a:lnSpc>
                <a:spcPts val="37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90337" y="-187878"/>
            <a:ext cx="3400212" cy="3239475"/>
          </a:xfrm>
          <a:custGeom>
            <a:avLst/>
            <a:gdLst/>
            <a:ahLst/>
            <a:cxnLst/>
            <a:rect r="r" b="b" t="t" l="l"/>
            <a:pathLst>
              <a:path h="3239475" w="3400212">
                <a:moveTo>
                  <a:pt x="0" y="0"/>
                </a:moveTo>
                <a:lnTo>
                  <a:pt x="3400212" y="0"/>
                </a:lnTo>
                <a:lnTo>
                  <a:pt x="3400212" y="3239475"/>
                </a:lnTo>
                <a:lnTo>
                  <a:pt x="0" y="3239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39625" y="679384"/>
            <a:ext cx="9511875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solidFill>
                  <a:srgbClr val="E0614A"/>
                </a:solidFill>
                <a:latin typeface="Bobby Jones"/>
                <a:ea typeface="Bobby Jones"/>
                <a:cs typeface="Bobby Jones"/>
                <a:sym typeface="Bobby Jones"/>
              </a:rPr>
              <a:t>We Fixed the Data Before Trusting the 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5322791" y="-443770"/>
            <a:ext cx="12702982" cy="11174541"/>
            <a:chOff x="0" y="0"/>
            <a:chExt cx="16937310" cy="1489938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37815"/>
              <a:ext cx="16937310" cy="14661573"/>
              <a:chOff x="0" y="0"/>
              <a:chExt cx="938961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3896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38961">
                    <a:moveTo>
                      <a:pt x="469481" y="0"/>
                    </a:moveTo>
                    <a:cubicBezTo>
                      <a:pt x="210194" y="0"/>
                      <a:pt x="0" y="181951"/>
                      <a:pt x="0" y="406400"/>
                    </a:cubicBezTo>
                    <a:cubicBezTo>
                      <a:pt x="0" y="630849"/>
                      <a:pt x="210194" y="812800"/>
                      <a:pt x="469481" y="812800"/>
                    </a:cubicBezTo>
                    <a:cubicBezTo>
                      <a:pt x="728767" y="812800"/>
                      <a:pt x="938961" y="630849"/>
                      <a:pt x="938961" y="406400"/>
                    </a:cubicBezTo>
                    <a:cubicBezTo>
                      <a:pt x="938961" y="181951"/>
                      <a:pt x="728767" y="0"/>
                      <a:pt x="469481" y="0"/>
                    </a:cubicBezTo>
                    <a:close/>
                  </a:path>
                </a:pathLst>
              </a:custGeom>
              <a:solidFill>
                <a:srgbClr val="006C56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88028" y="38100"/>
                <a:ext cx="762906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5536445" y="3329183"/>
              <a:ext cx="10541768" cy="8478836"/>
            </a:xfrm>
            <a:custGeom>
              <a:avLst/>
              <a:gdLst/>
              <a:ahLst/>
              <a:cxnLst/>
              <a:rect r="r" b="b" t="t" l="l"/>
              <a:pathLst>
                <a:path h="8478836" w="10541768">
                  <a:moveTo>
                    <a:pt x="0" y="0"/>
                  </a:moveTo>
                  <a:lnTo>
                    <a:pt x="10541768" y="0"/>
                  </a:lnTo>
                  <a:lnTo>
                    <a:pt x="10541768" y="8478836"/>
                  </a:lnTo>
                  <a:lnTo>
                    <a:pt x="0" y="8478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375698">
              <a:off x="4402056" y="200679"/>
              <a:ext cx="3879312" cy="3646465"/>
            </a:xfrm>
            <a:custGeom>
              <a:avLst/>
              <a:gdLst/>
              <a:ahLst/>
              <a:cxnLst/>
              <a:rect r="r" b="b" t="t" l="l"/>
              <a:pathLst>
                <a:path h="3646465" w="3879312">
                  <a:moveTo>
                    <a:pt x="0" y="0"/>
                  </a:moveTo>
                  <a:lnTo>
                    <a:pt x="3879312" y="0"/>
                  </a:lnTo>
                  <a:lnTo>
                    <a:pt x="3879312" y="3646465"/>
                  </a:lnTo>
                  <a:lnTo>
                    <a:pt x="0" y="3646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-162951" b="-156345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1473112">
              <a:off x="6263921" y="11367925"/>
              <a:ext cx="1333517" cy="1945450"/>
            </a:xfrm>
            <a:custGeom>
              <a:avLst/>
              <a:gdLst/>
              <a:ahLst/>
              <a:cxnLst/>
              <a:rect r="r" b="b" t="t" l="l"/>
              <a:pathLst>
                <a:path h="1945450" w="1333517">
                  <a:moveTo>
                    <a:pt x="0" y="0"/>
                  </a:moveTo>
                  <a:lnTo>
                    <a:pt x="1333517" y="0"/>
                  </a:lnTo>
                  <a:lnTo>
                    <a:pt x="1333517" y="1945449"/>
                  </a:lnTo>
                  <a:lnTo>
                    <a:pt x="0" y="1945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253246">
            <a:off x="5988003" y="-131903"/>
            <a:ext cx="10000803" cy="3127524"/>
          </a:xfrm>
          <a:custGeom>
            <a:avLst/>
            <a:gdLst/>
            <a:ahLst/>
            <a:cxnLst/>
            <a:rect r="r" b="b" t="t" l="l"/>
            <a:pathLst>
              <a:path h="3127524" w="10000803">
                <a:moveTo>
                  <a:pt x="0" y="0"/>
                </a:moveTo>
                <a:lnTo>
                  <a:pt x="10000803" y="0"/>
                </a:lnTo>
                <a:lnTo>
                  <a:pt x="10000803" y="3127524"/>
                </a:lnTo>
                <a:lnTo>
                  <a:pt x="0" y="3127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39625" y="3277507"/>
            <a:ext cx="10750818" cy="5277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858" indent="-406929" lvl="1">
              <a:lnSpc>
                <a:spcPts val="3769"/>
              </a:lnSpc>
              <a:buFont typeface="Arial"/>
              <a:buChar char="•"/>
            </a:pPr>
            <a:r>
              <a:rPr lang="en-US" sz="3769">
                <a:solidFill>
                  <a:srgbClr val="ABC339"/>
                </a:solidFill>
                <a:latin typeface="Bobby Jones"/>
                <a:ea typeface="Bobby Jones"/>
                <a:cs typeface="Bobby Jones"/>
                <a:sym typeface="Bobby Jones"/>
              </a:rPr>
              <a:t>Data Preparation Process</a:t>
            </a:r>
          </a:p>
          <a:p>
            <a:pPr algn="l" marL="813858" indent="-406929" lvl="1">
              <a:lnSpc>
                <a:spcPts val="3769"/>
              </a:lnSpc>
              <a:buFont typeface="Arial"/>
              <a:buChar char="•"/>
            </a:pPr>
            <a:r>
              <a:rPr lang="en-US" sz="3769">
                <a:solidFill>
                  <a:srgbClr val="ABC339"/>
                </a:solidFill>
                <a:latin typeface="Bobby Jones"/>
                <a:ea typeface="Bobby Jones"/>
                <a:cs typeface="Bobby Jones"/>
                <a:sym typeface="Bobby Jones"/>
              </a:rPr>
              <a:t>Filtered datasets to country-level data</a:t>
            </a:r>
          </a:p>
          <a:p>
            <a:pPr algn="l" marL="813858" indent="-406929" lvl="1">
              <a:lnSpc>
                <a:spcPts val="3769"/>
              </a:lnSpc>
              <a:buFont typeface="Arial"/>
              <a:buChar char="•"/>
            </a:pPr>
            <a:r>
              <a:rPr lang="en-US" sz="3769">
                <a:solidFill>
                  <a:srgbClr val="ABC339"/>
                </a:solidFill>
                <a:latin typeface="Bobby Jones"/>
                <a:ea typeface="Bobby Jones"/>
                <a:cs typeface="Bobby Jones"/>
                <a:sym typeface="Bobby Jones"/>
              </a:rPr>
              <a:t>Reshaped World Bank data: wide → long</a:t>
            </a:r>
          </a:p>
          <a:p>
            <a:pPr algn="l" marL="813858" indent="-406929" lvl="1">
              <a:lnSpc>
                <a:spcPts val="3769"/>
              </a:lnSpc>
              <a:buFont typeface="Arial"/>
              <a:buChar char="•"/>
            </a:pPr>
            <a:r>
              <a:rPr lang="en-US" sz="3769">
                <a:solidFill>
                  <a:srgbClr val="ABC339"/>
                </a:solidFill>
                <a:latin typeface="Bobby Jones"/>
                <a:ea typeface="Bobby Jones"/>
                <a:cs typeface="Bobby Jones"/>
                <a:sym typeface="Bobby Jones"/>
              </a:rPr>
              <a:t>Created 4 outcome-specific datasets</a:t>
            </a:r>
          </a:p>
          <a:p>
            <a:pPr algn="l" marL="813858" indent="-406929" lvl="1">
              <a:lnSpc>
                <a:spcPts val="3769"/>
              </a:lnSpc>
              <a:buFont typeface="Arial"/>
              <a:buChar char="•"/>
            </a:pPr>
            <a:r>
              <a:rPr lang="en-US" sz="3769">
                <a:solidFill>
                  <a:srgbClr val="ABC339"/>
                </a:solidFill>
                <a:latin typeface="Bobby Jones"/>
                <a:ea typeface="Bobby Jones"/>
                <a:cs typeface="Bobby Jones"/>
                <a:sym typeface="Bobby Jones"/>
              </a:rPr>
              <a:t>Replaced discontinued cholera and air-pollution indicators</a:t>
            </a:r>
          </a:p>
          <a:p>
            <a:pPr algn="l" marL="813858" indent="-406929" lvl="1">
              <a:lnSpc>
                <a:spcPts val="3769"/>
              </a:lnSpc>
              <a:buFont typeface="Arial"/>
              <a:buChar char="•"/>
            </a:pPr>
            <a:r>
              <a:rPr lang="en-US" sz="3769">
                <a:solidFill>
                  <a:srgbClr val="ABC339"/>
                </a:solidFill>
                <a:latin typeface="Bobby Jones"/>
                <a:ea typeface="Bobby Jones"/>
                <a:cs typeface="Bobby Jones"/>
                <a:sym typeface="Bobby Jones"/>
              </a:rPr>
              <a:t>Fixed the population-data error</a:t>
            </a:r>
          </a:p>
          <a:p>
            <a:pPr algn="l" marL="813858" indent="-406929" lvl="1">
              <a:lnSpc>
                <a:spcPts val="3769"/>
              </a:lnSpc>
              <a:buFont typeface="Arial"/>
              <a:buChar char="•"/>
            </a:pPr>
            <a:r>
              <a:rPr lang="en-US" sz="3769">
                <a:solidFill>
                  <a:srgbClr val="ABC339"/>
                </a:solidFill>
                <a:latin typeface="Bobby Jones"/>
                <a:ea typeface="Bobby Jones"/>
                <a:cs typeface="Bobby Jones"/>
                <a:sym typeface="Bobby Jones"/>
              </a:rPr>
              <a:t>Standardized health outcomes to per 100k and CO₂ to per capita</a:t>
            </a:r>
          </a:p>
          <a:p>
            <a:pPr algn="l" marL="813858" indent="-406929" lvl="1">
              <a:lnSpc>
                <a:spcPts val="3769"/>
              </a:lnSpc>
              <a:buFont typeface="Arial"/>
              <a:buChar char="•"/>
            </a:pPr>
            <a:r>
              <a:rPr lang="en-US" sz="3769">
                <a:solidFill>
                  <a:srgbClr val="ABC339"/>
                </a:solidFill>
                <a:latin typeface="Bobby Jones"/>
                <a:ea typeface="Bobby Jones"/>
                <a:cs typeface="Bobby Jones"/>
                <a:sym typeface="Bobby Jones"/>
              </a:rPr>
              <a:t>Added GDP per capita and income group for comparison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7209" y="8022770"/>
            <a:ext cx="21174037" cy="4356756"/>
            <a:chOff x="0" y="0"/>
            <a:chExt cx="1463553" cy="301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553" cy="301140"/>
            </a:xfrm>
            <a:custGeom>
              <a:avLst/>
              <a:gdLst/>
              <a:ahLst/>
              <a:cxnLst/>
              <a:rect r="r" b="b" t="t" l="l"/>
              <a:pathLst>
                <a:path h="301140" w="1463553">
                  <a:moveTo>
                    <a:pt x="0" y="0"/>
                  </a:moveTo>
                  <a:lnTo>
                    <a:pt x="1463553" y="0"/>
                  </a:lnTo>
                  <a:lnTo>
                    <a:pt x="1463553" y="301140"/>
                  </a:lnTo>
                  <a:lnTo>
                    <a:pt x="0" y="301140"/>
                  </a:lnTo>
                  <a:close/>
                </a:path>
              </a:pathLst>
            </a:custGeom>
            <a:solidFill>
              <a:srgbClr val="22624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553" cy="339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30112" y="7326062"/>
            <a:ext cx="4337676" cy="1932238"/>
          </a:xfrm>
          <a:custGeom>
            <a:avLst/>
            <a:gdLst/>
            <a:ahLst/>
            <a:cxnLst/>
            <a:rect r="r" b="b" t="t" l="l"/>
            <a:pathLst>
              <a:path h="1932238" w="4337676">
                <a:moveTo>
                  <a:pt x="0" y="0"/>
                </a:moveTo>
                <a:lnTo>
                  <a:pt x="4337676" y="0"/>
                </a:lnTo>
                <a:lnTo>
                  <a:pt x="4337676" y="1932238"/>
                </a:lnTo>
                <a:lnTo>
                  <a:pt x="0" y="1932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55976" y="6845815"/>
            <a:ext cx="2284676" cy="3079832"/>
          </a:xfrm>
          <a:custGeom>
            <a:avLst/>
            <a:gdLst/>
            <a:ahLst/>
            <a:cxnLst/>
            <a:rect r="r" b="b" t="t" l="l"/>
            <a:pathLst>
              <a:path h="3079832" w="2284676">
                <a:moveTo>
                  <a:pt x="0" y="0"/>
                </a:moveTo>
                <a:lnTo>
                  <a:pt x="2284676" y="0"/>
                </a:lnTo>
                <a:lnTo>
                  <a:pt x="2284676" y="3079832"/>
                </a:lnTo>
                <a:lnTo>
                  <a:pt x="0" y="3079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75605" y="-423897"/>
            <a:ext cx="8536790" cy="2905193"/>
            <a:chOff x="0" y="0"/>
            <a:chExt cx="11382386" cy="3873591"/>
          </a:xfrm>
        </p:grpSpPr>
        <p:sp>
          <p:nvSpPr>
            <p:cNvPr name="Freeform 8" id="8"/>
            <p:cNvSpPr/>
            <p:nvPr/>
          </p:nvSpPr>
          <p:spPr>
            <a:xfrm flipH="false" flipV="false" rot="-1291769">
              <a:off x="10107298" y="1693965"/>
              <a:ext cx="991118" cy="1736035"/>
            </a:xfrm>
            <a:custGeom>
              <a:avLst/>
              <a:gdLst/>
              <a:ahLst/>
              <a:cxnLst/>
              <a:rect r="r" b="b" t="t" l="l"/>
              <a:pathLst>
                <a:path h="1736035" w="991118">
                  <a:moveTo>
                    <a:pt x="0" y="0"/>
                  </a:moveTo>
                  <a:lnTo>
                    <a:pt x="991119" y="0"/>
                  </a:lnTo>
                  <a:lnTo>
                    <a:pt x="991119" y="1736036"/>
                  </a:lnTo>
                  <a:lnTo>
                    <a:pt x="0" y="1736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497184" y="1006391"/>
              <a:ext cx="8022273" cy="1946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55"/>
                </a:lnSpc>
              </a:pPr>
              <a:r>
                <a:rPr lang="en-US" sz="5455">
                  <a:solidFill>
                    <a:srgbClr val="226245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The Same Question. A Different Graph.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253246">
              <a:off x="102018" y="365532"/>
              <a:ext cx="10048778" cy="3142527"/>
            </a:xfrm>
            <a:custGeom>
              <a:avLst/>
              <a:gdLst/>
              <a:ahLst/>
              <a:cxnLst/>
              <a:rect r="r" b="b" t="t" l="l"/>
              <a:pathLst>
                <a:path h="3142527" w="10048778">
                  <a:moveTo>
                    <a:pt x="0" y="0"/>
                  </a:moveTo>
                  <a:lnTo>
                    <a:pt x="10048778" y="0"/>
                  </a:lnTo>
                  <a:lnTo>
                    <a:pt x="10048778" y="3142527"/>
                  </a:lnTo>
                  <a:lnTo>
                    <a:pt x="0" y="3142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393526" y="2307208"/>
            <a:ext cx="7881176" cy="5498495"/>
          </a:xfrm>
          <a:custGeom>
            <a:avLst/>
            <a:gdLst/>
            <a:ahLst/>
            <a:cxnLst/>
            <a:rect r="r" b="b" t="t" l="l"/>
            <a:pathLst>
              <a:path h="5498495" w="7881176">
                <a:moveTo>
                  <a:pt x="0" y="0"/>
                </a:moveTo>
                <a:lnTo>
                  <a:pt x="7881176" y="0"/>
                </a:lnTo>
                <a:lnTo>
                  <a:pt x="7881176" y="5498495"/>
                </a:lnTo>
                <a:lnTo>
                  <a:pt x="0" y="54984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7504" y="2307208"/>
            <a:ext cx="7796203" cy="5498495"/>
          </a:xfrm>
          <a:custGeom>
            <a:avLst/>
            <a:gdLst/>
            <a:ahLst/>
            <a:cxnLst/>
            <a:rect r="r" b="b" t="t" l="l"/>
            <a:pathLst>
              <a:path h="5498495" w="7796203">
                <a:moveTo>
                  <a:pt x="0" y="0"/>
                </a:moveTo>
                <a:lnTo>
                  <a:pt x="7796203" y="0"/>
                </a:lnTo>
                <a:lnTo>
                  <a:pt x="7796203" y="5498495"/>
                </a:lnTo>
                <a:lnTo>
                  <a:pt x="0" y="54984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7846" y="0"/>
            <a:ext cx="2281253" cy="2607146"/>
          </a:xfrm>
          <a:custGeom>
            <a:avLst/>
            <a:gdLst/>
            <a:ahLst/>
            <a:cxnLst/>
            <a:rect r="r" b="b" t="t" l="l"/>
            <a:pathLst>
              <a:path h="2607146" w="2281253">
                <a:moveTo>
                  <a:pt x="0" y="0"/>
                </a:moveTo>
                <a:lnTo>
                  <a:pt x="2281253" y="0"/>
                </a:lnTo>
                <a:lnTo>
                  <a:pt x="2281253" y="2607146"/>
                </a:lnTo>
                <a:lnTo>
                  <a:pt x="0" y="26071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529861" y="1910532"/>
            <a:ext cx="1458878" cy="1393229"/>
          </a:xfrm>
          <a:custGeom>
            <a:avLst/>
            <a:gdLst/>
            <a:ahLst/>
            <a:cxnLst/>
            <a:rect r="r" b="b" t="t" l="l"/>
            <a:pathLst>
              <a:path h="1393229" w="1458878">
                <a:moveTo>
                  <a:pt x="0" y="0"/>
                </a:moveTo>
                <a:lnTo>
                  <a:pt x="1458878" y="0"/>
                </a:lnTo>
                <a:lnTo>
                  <a:pt x="1458878" y="1393228"/>
                </a:lnTo>
                <a:lnTo>
                  <a:pt x="0" y="13932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181767" y="8142647"/>
            <a:ext cx="7753675" cy="192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823" indent="-238911" lvl="1">
              <a:lnSpc>
                <a:spcPts val="3098"/>
              </a:lnSpc>
              <a:buFont typeface="Arial"/>
              <a:buChar char="•"/>
            </a:pPr>
            <a:r>
              <a:rPr lang="en-US" sz="2213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Recalculated using correct population data</a:t>
            </a:r>
          </a:p>
          <a:p>
            <a:pPr algn="l" marL="477823" indent="-238911" lvl="1">
              <a:lnSpc>
                <a:spcPts val="3098"/>
              </a:lnSpc>
              <a:buFont typeface="Arial"/>
              <a:buChar char="•"/>
            </a:pPr>
            <a:r>
              <a:rPr lang="en-US" sz="2213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Standardized health rates &amp; CO₂ per capita</a:t>
            </a:r>
          </a:p>
          <a:p>
            <a:pPr algn="l" marL="477823" indent="-238911" lvl="1">
              <a:lnSpc>
                <a:spcPts val="3098"/>
              </a:lnSpc>
              <a:buFont typeface="Arial"/>
              <a:buChar char="•"/>
            </a:pPr>
            <a:r>
              <a:rPr lang="en-US" sz="2213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Replaced unsuitable indicators and removed aggregates</a:t>
            </a:r>
          </a:p>
          <a:p>
            <a:pPr algn="l" marL="477823" indent="-238911" lvl="1">
              <a:lnSpc>
                <a:spcPts val="3098"/>
              </a:lnSpc>
              <a:buFont typeface="Arial"/>
              <a:buChar char="•"/>
            </a:pPr>
            <a:r>
              <a:rPr lang="en-US" sz="2213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Re-ran the analysis on corrected data</a:t>
            </a:r>
          </a:p>
          <a:p>
            <a:pPr algn="l" marL="477823" indent="-238911" lvl="1">
              <a:lnSpc>
                <a:spcPts val="3098"/>
              </a:lnSpc>
              <a:buFont typeface="Arial"/>
              <a:buChar char="•"/>
            </a:pPr>
            <a:r>
              <a:rPr lang="en-US" sz="2213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Used the corrected results for reliable interpretation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C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78429" y="1028700"/>
            <a:ext cx="8229600" cy="8229600"/>
            <a:chOff x="0" y="0"/>
            <a:chExt cx="10972800" cy="10972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972800" cy="1097280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26245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true" flipV="false" rot="0">
              <a:off x="490130" y="257231"/>
              <a:ext cx="9992540" cy="8956950"/>
            </a:xfrm>
            <a:custGeom>
              <a:avLst/>
              <a:gdLst/>
              <a:ahLst/>
              <a:cxnLst/>
              <a:rect r="r" b="b" t="t" l="l"/>
              <a:pathLst>
                <a:path h="8956950" w="9992540">
                  <a:moveTo>
                    <a:pt x="9992540" y="0"/>
                  </a:moveTo>
                  <a:lnTo>
                    <a:pt x="0" y="0"/>
                  </a:lnTo>
                  <a:lnTo>
                    <a:pt x="0" y="8956950"/>
                  </a:lnTo>
                  <a:lnTo>
                    <a:pt x="9992540" y="8956950"/>
                  </a:lnTo>
                  <a:lnTo>
                    <a:pt x="999254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1842929">
            <a:off x="17021586" y="8638612"/>
            <a:ext cx="1658354" cy="1682832"/>
          </a:xfrm>
          <a:custGeom>
            <a:avLst/>
            <a:gdLst/>
            <a:ahLst/>
            <a:cxnLst/>
            <a:rect r="r" b="b" t="t" l="l"/>
            <a:pathLst>
              <a:path h="1682832" w="1658354">
                <a:moveTo>
                  <a:pt x="0" y="0"/>
                </a:moveTo>
                <a:lnTo>
                  <a:pt x="1658355" y="0"/>
                </a:lnTo>
                <a:lnTo>
                  <a:pt x="1658355" y="1682832"/>
                </a:lnTo>
                <a:lnTo>
                  <a:pt x="0" y="1682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2292" y="685439"/>
            <a:ext cx="11644429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>
                <a:solidFill>
                  <a:srgbClr val="ABC339"/>
                </a:solidFill>
                <a:latin typeface="Bobby Jones"/>
                <a:ea typeface="Bobby Jones"/>
                <a:cs typeface="Bobby Jones"/>
                <a:sym typeface="Bobby Jones"/>
              </a:rPr>
              <a:t>One Relationship, Three Ways to Test It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64167">
            <a:off x="160669" y="8774340"/>
            <a:ext cx="1368654" cy="2079447"/>
          </a:xfrm>
          <a:custGeom>
            <a:avLst/>
            <a:gdLst/>
            <a:ahLst/>
            <a:cxnLst/>
            <a:rect r="r" b="b" t="t" l="l"/>
            <a:pathLst>
              <a:path h="2079447" w="1368654">
                <a:moveTo>
                  <a:pt x="0" y="0"/>
                </a:moveTo>
                <a:lnTo>
                  <a:pt x="1368654" y="0"/>
                </a:lnTo>
                <a:lnTo>
                  <a:pt x="1368654" y="2079447"/>
                </a:lnTo>
                <a:lnTo>
                  <a:pt x="0" y="20794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2028" y="3097988"/>
            <a:ext cx="9963682" cy="507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8920" indent="-429460" lvl="1">
              <a:lnSpc>
                <a:spcPts val="3978"/>
              </a:lnSpc>
              <a:buFont typeface="Arial"/>
              <a:buChar char="•"/>
            </a:pPr>
            <a:r>
              <a:rPr lang="en-US" sz="3978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Analysis Approach</a:t>
            </a:r>
          </a:p>
          <a:p>
            <a:pPr algn="l" marL="858920" indent="-429460" lvl="1">
              <a:lnSpc>
                <a:spcPts val="3978"/>
              </a:lnSpc>
              <a:buFont typeface="Arial"/>
              <a:buChar char="•"/>
            </a:pPr>
            <a:r>
              <a:rPr lang="en-US" sz="3978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Examined CO₂ vs. 4 health outcomes</a:t>
            </a:r>
          </a:p>
          <a:p>
            <a:pPr algn="l" marL="858920" indent="-429460" lvl="1">
              <a:lnSpc>
                <a:spcPts val="3978"/>
              </a:lnSpc>
              <a:buFont typeface="Arial"/>
              <a:buChar char="•"/>
            </a:pPr>
            <a:r>
              <a:rPr lang="en-US" sz="3978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Compared all countries and income groups</a:t>
            </a:r>
          </a:p>
          <a:p>
            <a:pPr algn="l" marL="858920" indent="-429460" lvl="1">
              <a:lnSpc>
                <a:spcPts val="3978"/>
              </a:lnSpc>
              <a:buFont typeface="Arial"/>
              <a:buChar char="•"/>
            </a:pPr>
            <a:r>
              <a:rPr lang="en-US" sz="3978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Studied within-country changes over time</a:t>
            </a:r>
          </a:p>
          <a:p>
            <a:pPr algn="l" marL="858920" indent="-429460" lvl="1">
              <a:lnSpc>
                <a:spcPts val="3978"/>
              </a:lnSpc>
              <a:buFont typeface="Arial"/>
              <a:buChar char="•"/>
            </a:pPr>
            <a:r>
              <a:rPr lang="en-US" sz="3978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Controlled for GDP per capita</a:t>
            </a:r>
          </a:p>
          <a:p>
            <a:pPr algn="l" marL="858920" indent="-429460" lvl="1">
              <a:lnSpc>
                <a:spcPts val="3978"/>
              </a:lnSpc>
              <a:buFont typeface="Arial"/>
              <a:buChar char="•"/>
            </a:pPr>
            <a:r>
              <a:rPr lang="en-US" sz="3978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Compared methods to identify consistent patterns and confounding effects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D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7209" y="0"/>
            <a:ext cx="10143663" cy="10287000"/>
            <a:chOff x="0" y="0"/>
            <a:chExt cx="701132" cy="711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1132" cy="711039"/>
            </a:xfrm>
            <a:custGeom>
              <a:avLst/>
              <a:gdLst/>
              <a:ahLst/>
              <a:cxnLst/>
              <a:rect r="r" b="b" t="t" l="l"/>
              <a:pathLst>
                <a:path h="711039" w="701132">
                  <a:moveTo>
                    <a:pt x="0" y="0"/>
                  </a:moveTo>
                  <a:lnTo>
                    <a:pt x="701132" y="0"/>
                  </a:lnTo>
                  <a:lnTo>
                    <a:pt x="701132" y="711039"/>
                  </a:lnTo>
                  <a:lnTo>
                    <a:pt x="0" y="711039"/>
                  </a:lnTo>
                  <a:close/>
                </a:path>
              </a:pathLst>
            </a:custGeom>
            <a:solidFill>
              <a:srgbClr val="22624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01132" cy="749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08395" y="205079"/>
            <a:ext cx="9983140" cy="2795279"/>
          </a:xfrm>
          <a:custGeom>
            <a:avLst/>
            <a:gdLst/>
            <a:ahLst/>
            <a:cxnLst/>
            <a:rect r="r" b="b" t="t" l="l"/>
            <a:pathLst>
              <a:path h="2795279" w="9983140">
                <a:moveTo>
                  <a:pt x="0" y="0"/>
                </a:moveTo>
                <a:lnTo>
                  <a:pt x="9983140" y="0"/>
                </a:lnTo>
                <a:lnTo>
                  <a:pt x="9983140" y="2795280"/>
                </a:lnTo>
                <a:lnTo>
                  <a:pt x="0" y="2795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230168">
            <a:off x="15625330" y="205079"/>
            <a:ext cx="1339741" cy="2346680"/>
          </a:xfrm>
          <a:custGeom>
            <a:avLst/>
            <a:gdLst/>
            <a:ahLst/>
            <a:cxnLst/>
            <a:rect r="r" b="b" t="t" l="l"/>
            <a:pathLst>
              <a:path h="2346680" w="1339741">
                <a:moveTo>
                  <a:pt x="0" y="0"/>
                </a:moveTo>
                <a:lnTo>
                  <a:pt x="1339741" y="0"/>
                </a:lnTo>
                <a:lnTo>
                  <a:pt x="1339741" y="2346680"/>
                </a:lnTo>
                <a:lnTo>
                  <a:pt x="0" y="2346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95696" y="404655"/>
            <a:ext cx="2937375" cy="1248090"/>
          </a:xfrm>
          <a:custGeom>
            <a:avLst/>
            <a:gdLst/>
            <a:ahLst/>
            <a:cxnLst/>
            <a:rect r="r" b="b" t="t" l="l"/>
            <a:pathLst>
              <a:path h="1248090" w="2937375">
                <a:moveTo>
                  <a:pt x="0" y="0"/>
                </a:moveTo>
                <a:lnTo>
                  <a:pt x="2937375" y="0"/>
                </a:lnTo>
                <a:lnTo>
                  <a:pt x="2937375" y="1248090"/>
                </a:lnTo>
                <a:lnTo>
                  <a:pt x="0" y="12480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51496" t="0" r="0" b="-26850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2016" y="1214496"/>
            <a:ext cx="1827360" cy="776445"/>
          </a:xfrm>
          <a:custGeom>
            <a:avLst/>
            <a:gdLst/>
            <a:ahLst/>
            <a:cxnLst/>
            <a:rect r="r" b="b" t="t" l="l"/>
            <a:pathLst>
              <a:path h="776445" w="1827360">
                <a:moveTo>
                  <a:pt x="0" y="0"/>
                </a:moveTo>
                <a:lnTo>
                  <a:pt x="1827360" y="0"/>
                </a:lnTo>
                <a:lnTo>
                  <a:pt x="1827360" y="776446"/>
                </a:lnTo>
                <a:lnTo>
                  <a:pt x="0" y="7764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51496" t="0" r="0" b="-26850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2890" y="3173021"/>
            <a:ext cx="9160362" cy="5246370"/>
            <a:chOff x="0" y="0"/>
            <a:chExt cx="1308769" cy="7495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8769" cy="749565"/>
            </a:xfrm>
            <a:custGeom>
              <a:avLst/>
              <a:gdLst/>
              <a:ahLst/>
              <a:cxnLst/>
              <a:rect r="r" b="b" t="t" l="l"/>
              <a:pathLst>
                <a:path h="749565" w="1308769">
                  <a:moveTo>
                    <a:pt x="19439" y="0"/>
                  </a:moveTo>
                  <a:lnTo>
                    <a:pt x="1289331" y="0"/>
                  </a:lnTo>
                  <a:cubicBezTo>
                    <a:pt x="1294486" y="0"/>
                    <a:pt x="1299430" y="2048"/>
                    <a:pt x="1303076" y="5693"/>
                  </a:cubicBezTo>
                  <a:cubicBezTo>
                    <a:pt x="1306721" y="9339"/>
                    <a:pt x="1308769" y="14283"/>
                    <a:pt x="1308769" y="19439"/>
                  </a:cubicBezTo>
                  <a:lnTo>
                    <a:pt x="1308769" y="730127"/>
                  </a:lnTo>
                  <a:cubicBezTo>
                    <a:pt x="1308769" y="740862"/>
                    <a:pt x="1300066" y="749565"/>
                    <a:pt x="1289331" y="749565"/>
                  </a:cubicBezTo>
                  <a:lnTo>
                    <a:pt x="19439" y="749565"/>
                  </a:lnTo>
                  <a:cubicBezTo>
                    <a:pt x="14283" y="749565"/>
                    <a:pt x="9339" y="747517"/>
                    <a:pt x="5693" y="743872"/>
                  </a:cubicBezTo>
                  <a:cubicBezTo>
                    <a:pt x="2048" y="740226"/>
                    <a:pt x="0" y="735282"/>
                    <a:pt x="0" y="730127"/>
                  </a:cubicBezTo>
                  <a:lnTo>
                    <a:pt x="0" y="19439"/>
                  </a:lnTo>
                  <a:cubicBezTo>
                    <a:pt x="0" y="14283"/>
                    <a:pt x="2048" y="9339"/>
                    <a:pt x="5693" y="5693"/>
                  </a:cubicBezTo>
                  <a:cubicBezTo>
                    <a:pt x="9339" y="2048"/>
                    <a:pt x="14283" y="0"/>
                    <a:pt x="19439" y="0"/>
                  </a:cubicBezTo>
                  <a:close/>
                </a:path>
              </a:pathLst>
            </a:custGeom>
            <a:blipFill>
              <a:blip r:embed="rId8"/>
              <a:stretch>
                <a:fillRect l="-2303" t="0" r="-230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35528" y="3173021"/>
            <a:ext cx="8447696" cy="5246370"/>
            <a:chOff x="0" y="0"/>
            <a:chExt cx="1308769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08769" cy="812800"/>
            </a:xfrm>
            <a:custGeom>
              <a:avLst/>
              <a:gdLst/>
              <a:ahLst/>
              <a:cxnLst/>
              <a:rect r="r" b="b" t="t" l="l"/>
              <a:pathLst>
                <a:path h="812800" w="1308769">
                  <a:moveTo>
                    <a:pt x="21078" y="0"/>
                  </a:moveTo>
                  <a:lnTo>
                    <a:pt x="1287691" y="0"/>
                  </a:lnTo>
                  <a:cubicBezTo>
                    <a:pt x="1299332" y="0"/>
                    <a:pt x="1308769" y="9437"/>
                    <a:pt x="1308769" y="21078"/>
                  </a:cubicBezTo>
                  <a:lnTo>
                    <a:pt x="1308769" y="791722"/>
                  </a:lnTo>
                  <a:cubicBezTo>
                    <a:pt x="1308769" y="803363"/>
                    <a:pt x="1299332" y="812800"/>
                    <a:pt x="1287691" y="812800"/>
                  </a:cubicBezTo>
                  <a:lnTo>
                    <a:pt x="21078" y="812800"/>
                  </a:lnTo>
                  <a:cubicBezTo>
                    <a:pt x="9437" y="812800"/>
                    <a:pt x="0" y="803363"/>
                    <a:pt x="0" y="791722"/>
                  </a:cubicBezTo>
                  <a:lnTo>
                    <a:pt x="0" y="21078"/>
                  </a:lnTo>
                  <a:cubicBezTo>
                    <a:pt x="0" y="9437"/>
                    <a:pt x="9437" y="0"/>
                    <a:pt x="21078" y="0"/>
                  </a:cubicBezTo>
                  <a:close/>
                </a:path>
              </a:pathLst>
            </a:custGeom>
            <a:blipFill>
              <a:blip r:embed="rId9"/>
              <a:stretch>
                <a:fillRect l="-1474" t="0" r="-306" b="-116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504428" y="601936"/>
            <a:ext cx="7415280" cy="118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4522">
                <a:solidFill>
                  <a:srgbClr val="226245"/>
                </a:solidFill>
                <a:latin typeface="Bobby Jones"/>
                <a:ea typeface="Bobby Jones"/>
                <a:cs typeface="Bobby Jones"/>
                <a:sym typeface="Bobby Jones"/>
              </a:rPr>
              <a:t>The Result We Expected to Be Strongest Was the Weakest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06323" y="8619416"/>
            <a:ext cx="7418024" cy="129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7"/>
              </a:lnSpc>
              <a:spcBef>
                <a:spcPct val="0"/>
              </a:spcBef>
            </a:pPr>
            <a:r>
              <a:rPr lang="en-US" sz="2507">
                <a:solidFill>
                  <a:srgbClr val="226245"/>
                </a:solidFill>
                <a:latin typeface="Bobby Jones"/>
                <a:ea typeface="Bobby Jones"/>
                <a:cs typeface="Bobby Jones"/>
                <a:sym typeface="Bobby Jones"/>
              </a:rPr>
              <a:t>PM2.5 exposure differs substantially across income groups. Lower-income groups generally have higher exposure, while high-income countries have lower typical exposure—but with many outliers.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9731" y="8754706"/>
            <a:ext cx="6746681" cy="104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1"/>
              </a:lnSpc>
              <a:spcBef>
                <a:spcPct val="0"/>
              </a:spcBef>
            </a:pPr>
            <a:r>
              <a:rPr lang="en-US" sz="2701">
                <a:solidFill>
                  <a:srgbClr val="FED7C4"/>
                </a:solidFill>
                <a:latin typeface="Bobby Jones"/>
                <a:ea typeface="Bobby Jones"/>
                <a:cs typeface="Bobby Jones"/>
                <a:sym typeface="Bobby Jones"/>
              </a:rPr>
              <a:t>The relationship changes over time and differs by region. Some regions decline, while others remain high or fluctuate.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C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0954">
            <a:off x="338037" y="-147171"/>
            <a:ext cx="1612012" cy="2351742"/>
          </a:xfrm>
          <a:custGeom>
            <a:avLst/>
            <a:gdLst/>
            <a:ahLst/>
            <a:cxnLst/>
            <a:rect r="r" b="b" t="t" l="l"/>
            <a:pathLst>
              <a:path h="2351742" w="1612012">
                <a:moveTo>
                  <a:pt x="0" y="0"/>
                </a:moveTo>
                <a:lnTo>
                  <a:pt x="1612012" y="0"/>
                </a:lnTo>
                <a:lnTo>
                  <a:pt x="1612012" y="2351742"/>
                </a:lnTo>
                <a:lnTo>
                  <a:pt x="0" y="2351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80533">
            <a:off x="16332241" y="-1114366"/>
            <a:ext cx="1982602" cy="2847078"/>
          </a:xfrm>
          <a:custGeom>
            <a:avLst/>
            <a:gdLst/>
            <a:ahLst/>
            <a:cxnLst/>
            <a:rect r="r" b="b" t="t" l="l"/>
            <a:pathLst>
              <a:path h="2847078" w="1982602">
                <a:moveTo>
                  <a:pt x="0" y="0"/>
                </a:moveTo>
                <a:lnTo>
                  <a:pt x="1982602" y="0"/>
                </a:lnTo>
                <a:lnTo>
                  <a:pt x="1982602" y="2847078"/>
                </a:lnTo>
                <a:lnTo>
                  <a:pt x="0" y="2847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57653">
            <a:off x="114030" y="8764201"/>
            <a:ext cx="1424595" cy="1445622"/>
          </a:xfrm>
          <a:custGeom>
            <a:avLst/>
            <a:gdLst/>
            <a:ahLst/>
            <a:cxnLst/>
            <a:rect r="r" b="b" t="t" l="l"/>
            <a:pathLst>
              <a:path h="1445622" w="1424595">
                <a:moveTo>
                  <a:pt x="0" y="0"/>
                </a:moveTo>
                <a:lnTo>
                  <a:pt x="1424594" y="0"/>
                </a:lnTo>
                <a:lnTo>
                  <a:pt x="1424594" y="1445622"/>
                </a:lnTo>
                <a:lnTo>
                  <a:pt x="0" y="144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75698">
            <a:off x="16422301" y="8472681"/>
            <a:ext cx="2494514" cy="2344786"/>
          </a:xfrm>
          <a:custGeom>
            <a:avLst/>
            <a:gdLst/>
            <a:ahLst/>
            <a:cxnLst/>
            <a:rect r="r" b="b" t="t" l="l"/>
            <a:pathLst>
              <a:path h="2344786" w="2494514">
                <a:moveTo>
                  <a:pt x="0" y="0"/>
                </a:moveTo>
                <a:lnTo>
                  <a:pt x="2494515" y="0"/>
                </a:lnTo>
                <a:lnTo>
                  <a:pt x="2494515" y="2344786"/>
                </a:lnTo>
                <a:lnTo>
                  <a:pt x="0" y="23447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162951" b="-15634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62781" y="413597"/>
            <a:ext cx="7162437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The Relationship That Survived Every Test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53246">
            <a:off x="4563260" y="-266450"/>
            <a:ext cx="9161479" cy="2865044"/>
          </a:xfrm>
          <a:custGeom>
            <a:avLst/>
            <a:gdLst/>
            <a:ahLst/>
            <a:cxnLst/>
            <a:rect r="r" b="b" t="t" l="l"/>
            <a:pathLst>
              <a:path h="2865044" w="9161479">
                <a:moveTo>
                  <a:pt x="0" y="0"/>
                </a:moveTo>
                <a:lnTo>
                  <a:pt x="9161480" y="0"/>
                </a:lnTo>
                <a:lnTo>
                  <a:pt x="9161480" y="2865045"/>
                </a:lnTo>
                <a:lnTo>
                  <a:pt x="0" y="2865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4784" y="2931851"/>
            <a:ext cx="8030933" cy="4960282"/>
          </a:xfrm>
          <a:custGeom>
            <a:avLst/>
            <a:gdLst/>
            <a:ahLst/>
            <a:cxnLst/>
            <a:rect r="r" b="b" t="t" l="l"/>
            <a:pathLst>
              <a:path h="4960282" w="8030933">
                <a:moveTo>
                  <a:pt x="0" y="0"/>
                </a:moveTo>
                <a:lnTo>
                  <a:pt x="8030933" y="0"/>
                </a:lnTo>
                <a:lnTo>
                  <a:pt x="8030933" y="4960282"/>
                </a:lnTo>
                <a:lnTo>
                  <a:pt x="0" y="4960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68368" y="2931851"/>
            <a:ext cx="9059877" cy="4960282"/>
          </a:xfrm>
          <a:custGeom>
            <a:avLst/>
            <a:gdLst/>
            <a:ahLst/>
            <a:cxnLst/>
            <a:rect r="r" b="b" t="t" l="l"/>
            <a:pathLst>
              <a:path h="4960282" w="9059877">
                <a:moveTo>
                  <a:pt x="0" y="0"/>
                </a:moveTo>
                <a:lnTo>
                  <a:pt x="9059877" y="0"/>
                </a:lnTo>
                <a:lnTo>
                  <a:pt x="9059877" y="4960282"/>
                </a:lnTo>
                <a:lnTo>
                  <a:pt x="0" y="49602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0416" y="8128134"/>
            <a:ext cx="7839668" cy="113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8"/>
              </a:lnSpc>
              <a:spcBef>
                <a:spcPct val="0"/>
              </a:spcBef>
            </a:pPr>
            <a:r>
              <a:rPr lang="en-US" sz="2898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How malaria rates are distributed across the four income groups. Compare medians, spread, and outliers.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58016" y="8118609"/>
            <a:ext cx="7361385" cy="10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1"/>
              </a:lnSpc>
              <a:spcBef>
                <a:spcPct val="0"/>
              </a:spcBef>
            </a:pPr>
            <a:r>
              <a:rPr lang="en-US" sz="2721">
                <a:solidFill>
                  <a:srgbClr val="FDD6C3"/>
                </a:solidFill>
                <a:latin typeface="Bobby Jones"/>
                <a:ea typeface="Bobby Jones"/>
                <a:cs typeface="Bobby Jones"/>
                <a:sym typeface="Bobby Jones"/>
              </a:rPr>
              <a:t>How malaria rates change over time across regions. Look for whether the pattern is broadly consistent or differs by region.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08952" y="-57902"/>
            <a:ext cx="9501744" cy="3589831"/>
            <a:chOff x="0" y="0"/>
            <a:chExt cx="12668992" cy="478644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278796" y="1241844"/>
              <a:ext cx="10740720" cy="2156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69"/>
                </a:lnSpc>
              </a:pPr>
              <a:r>
                <a:rPr lang="en-US" sz="6069">
                  <a:solidFill>
                    <a:srgbClr val="DF614A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A Strong Correlation, But Not the Whole Story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253246">
              <a:off x="126059" y="451673"/>
              <a:ext cx="12416873" cy="3883095"/>
            </a:xfrm>
            <a:custGeom>
              <a:avLst/>
              <a:gdLst/>
              <a:ahLst/>
              <a:cxnLst/>
              <a:rect r="r" b="b" t="t" l="l"/>
              <a:pathLst>
                <a:path h="3883095" w="12416873">
                  <a:moveTo>
                    <a:pt x="0" y="0"/>
                  </a:moveTo>
                  <a:lnTo>
                    <a:pt x="12416874" y="0"/>
                  </a:lnTo>
                  <a:lnTo>
                    <a:pt x="12416874" y="3883095"/>
                  </a:lnTo>
                  <a:lnTo>
                    <a:pt x="0" y="3883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430085" y="6340974"/>
            <a:ext cx="11427830" cy="7114515"/>
            <a:chOff x="0" y="0"/>
            <a:chExt cx="130557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5576" cy="812800"/>
            </a:xfrm>
            <a:custGeom>
              <a:avLst/>
              <a:gdLst/>
              <a:ahLst/>
              <a:cxnLst/>
              <a:rect r="r" b="b" t="t" l="l"/>
              <a:pathLst>
                <a:path h="812800" w="1305576">
                  <a:moveTo>
                    <a:pt x="652788" y="0"/>
                  </a:moveTo>
                  <a:cubicBezTo>
                    <a:pt x="292263" y="0"/>
                    <a:pt x="0" y="181951"/>
                    <a:pt x="0" y="406400"/>
                  </a:cubicBezTo>
                  <a:cubicBezTo>
                    <a:pt x="0" y="630849"/>
                    <a:pt x="292263" y="812800"/>
                    <a:pt x="652788" y="812800"/>
                  </a:cubicBezTo>
                  <a:cubicBezTo>
                    <a:pt x="1013313" y="812800"/>
                    <a:pt x="1305576" y="630849"/>
                    <a:pt x="1305576" y="406400"/>
                  </a:cubicBezTo>
                  <a:cubicBezTo>
                    <a:pt x="1305576" y="181951"/>
                    <a:pt x="1013313" y="0"/>
                    <a:pt x="652788" y="0"/>
                  </a:cubicBezTo>
                  <a:close/>
                </a:path>
              </a:pathLst>
            </a:custGeom>
            <a:solidFill>
              <a:srgbClr val="006C5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2398" y="38100"/>
              <a:ext cx="1060781" cy="698500"/>
            </a:xfrm>
            <a:prstGeom prst="rect">
              <a:avLst/>
            </a:prstGeom>
          </p:spPr>
          <p:txBody>
            <a:bodyPr anchor="ctr" rtlCol="false" tIns="47504" lIns="47504" bIns="47504" rIns="4750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2164" y="3531929"/>
            <a:ext cx="8065119" cy="5065138"/>
            <a:chOff x="0" y="0"/>
            <a:chExt cx="1294205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4205" cy="812800"/>
            </a:xfrm>
            <a:custGeom>
              <a:avLst/>
              <a:gdLst/>
              <a:ahLst/>
              <a:cxnLst/>
              <a:rect r="r" b="b" t="t" l="l"/>
              <a:pathLst>
                <a:path h="812800" w="1294205">
                  <a:moveTo>
                    <a:pt x="22078" y="0"/>
                  </a:moveTo>
                  <a:lnTo>
                    <a:pt x="1272127" y="0"/>
                  </a:lnTo>
                  <a:cubicBezTo>
                    <a:pt x="1284321" y="0"/>
                    <a:pt x="1294205" y="9885"/>
                    <a:pt x="1294205" y="22078"/>
                  </a:cubicBezTo>
                  <a:lnTo>
                    <a:pt x="1294205" y="790722"/>
                  </a:lnTo>
                  <a:cubicBezTo>
                    <a:pt x="1294205" y="796577"/>
                    <a:pt x="1291879" y="802193"/>
                    <a:pt x="1287739" y="806333"/>
                  </a:cubicBezTo>
                  <a:cubicBezTo>
                    <a:pt x="1283598" y="810474"/>
                    <a:pt x="1277983" y="812800"/>
                    <a:pt x="1272127" y="812800"/>
                  </a:cubicBezTo>
                  <a:lnTo>
                    <a:pt x="22078" y="812800"/>
                  </a:lnTo>
                  <a:cubicBezTo>
                    <a:pt x="9885" y="812800"/>
                    <a:pt x="0" y="802915"/>
                    <a:pt x="0" y="790722"/>
                  </a:cubicBezTo>
                  <a:lnTo>
                    <a:pt x="0" y="22078"/>
                  </a:lnTo>
                  <a:cubicBezTo>
                    <a:pt x="0" y="9885"/>
                    <a:pt x="9885" y="0"/>
                    <a:pt x="22078" y="0"/>
                  </a:cubicBezTo>
                  <a:close/>
                </a:path>
              </a:pathLst>
            </a:custGeom>
            <a:blipFill>
              <a:blip r:embed="rId4"/>
              <a:stretch>
                <a:fillRect l="-905" t="0" r="-90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04441" y="3531929"/>
            <a:ext cx="9059410" cy="5065138"/>
            <a:chOff x="0" y="0"/>
            <a:chExt cx="1453759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53759" cy="812800"/>
            </a:xfrm>
            <a:custGeom>
              <a:avLst/>
              <a:gdLst/>
              <a:ahLst/>
              <a:cxnLst/>
              <a:rect r="r" b="b" t="t" l="l"/>
              <a:pathLst>
                <a:path h="812800" w="1453759">
                  <a:moveTo>
                    <a:pt x="19655" y="0"/>
                  </a:moveTo>
                  <a:lnTo>
                    <a:pt x="1434104" y="0"/>
                  </a:lnTo>
                  <a:cubicBezTo>
                    <a:pt x="1444959" y="0"/>
                    <a:pt x="1453759" y="8800"/>
                    <a:pt x="1453759" y="19655"/>
                  </a:cubicBezTo>
                  <a:lnTo>
                    <a:pt x="1453759" y="793145"/>
                  </a:lnTo>
                  <a:cubicBezTo>
                    <a:pt x="1453759" y="804000"/>
                    <a:pt x="1444959" y="812800"/>
                    <a:pt x="1434104" y="812800"/>
                  </a:cubicBezTo>
                  <a:lnTo>
                    <a:pt x="19655" y="812800"/>
                  </a:lnTo>
                  <a:cubicBezTo>
                    <a:pt x="8800" y="812800"/>
                    <a:pt x="0" y="804000"/>
                    <a:pt x="0" y="793145"/>
                  </a:cubicBezTo>
                  <a:lnTo>
                    <a:pt x="0" y="19655"/>
                  </a:lnTo>
                  <a:cubicBezTo>
                    <a:pt x="0" y="8800"/>
                    <a:pt x="8800" y="0"/>
                    <a:pt x="19655" y="0"/>
                  </a:cubicBezTo>
                  <a:close/>
                </a:path>
              </a:pathLst>
            </a:custGeom>
            <a:blipFill>
              <a:blip r:embed="rId5"/>
              <a:stretch>
                <a:fillRect l="-1106" t="0" r="-110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316869" y="-3615159"/>
            <a:ext cx="11427830" cy="7114515"/>
            <a:chOff x="0" y="0"/>
            <a:chExt cx="1305576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5576" cy="812800"/>
            </a:xfrm>
            <a:custGeom>
              <a:avLst/>
              <a:gdLst/>
              <a:ahLst/>
              <a:cxnLst/>
              <a:rect r="r" b="b" t="t" l="l"/>
              <a:pathLst>
                <a:path h="812800" w="1305576">
                  <a:moveTo>
                    <a:pt x="652788" y="0"/>
                  </a:moveTo>
                  <a:cubicBezTo>
                    <a:pt x="292263" y="0"/>
                    <a:pt x="0" y="181951"/>
                    <a:pt x="0" y="406400"/>
                  </a:cubicBezTo>
                  <a:cubicBezTo>
                    <a:pt x="0" y="630849"/>
                    <a:pt x="292263" y="812800"/>
                    <a:pt x="652788" y="812800"/>
                  </a:cubicBezTo>
                  <a:cubicBezTo>
                    <a:pt x="1013313" y="812800"/>
                    <a:pt x="1305576" y="630849"/>
                    <a:pt x="1305576" y="406400"/>
                  </a:cubicBezTo>
                  <a:cubicBezTo>
                    <a:pt x="1305576" y="181951"/>
                    <a:pt x="1013313" y="0"/>
                    <a:pt x="652788" y="0"/>
                  </a:cubicBezTo>
                  <a:close/>
                </a:path>
              </a:pathLst>
            </a:custGeom>
            <a:solidFill>
              <a:srgbClr val="006C5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2398" y="38100"/>
              <a:ext cx="1060781" cy="698500"/>
            </a:xfrm>
            <a:prstGeom prst="rect">
              <a:avLst/>
            </a:prstGeom>
          </p:spPr>
          <p:txBody>
            <a:bodyPr anchor="ctr" rtlCol="false" tIns="47504" lIns="47504" bIns="47504" rIns="4750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8801604" y="-4466996"/>
            <a:ext cx="11427830" cy="7114515"/>
            <a:chOff x="0" y="0"/>
            <a:chExt cx="1305576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5576" cy="812800"/>
            </a:xfrm>
            <a:custGeom>
              <a:avLst/>
              <a:gdLst/>
              <a:ahLst/>
              <a:cxnLst/>
              <a:rect r="r" b="b" t="t" l="l"/>
              <a:pathLst>
                <a:path h="812800" w="1305576">
                  <a:moveTo>
                    <a:pt x="652788" y="0"/>
                  </a:moveTo>
                  <a:cubicBezTo>
                    <a:pt x="292263" y="0"/>
                    <a:pt x="0" y="181951"/>
                    <a:pt x="0" y="406400"/>
                  </a:cubicBezTo>
                  <a:cubicBezTo>
                    <a:pt x="0" y="630849"/>
                    <a:pt x="292263" y="812800"/>
                    <a:pt x="652788" y="812800"/>
                  </a:cubicBezTo>
                  <a:cubicBezTo>
                    <a:pt x="1013313" y="812800"/>
                    <a:pt x="1305576" y="630849"/>
                    <a:pt x="1305576" y="406400"/>
                  </a:cubicBezTo>
                  <a:cubicBezTo>
                    <a:pt x="1305576" y="181951"/>
                    <a:pt x="1013313" y="0"/>
                    <a:pt x="652788" y="0"/>
                  </a:cubicBezTo>
                  <a:close/>
                </a:path>
              </a:pathLst>
            </a:custGeom>
            <a:solidFill>
              <a:srgbClr val="006C5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2398" y="38100"/>
              <a:ext cx="1060781" cy="698500"/>
            </a:xfrm>
            <a:prstGeom prst="rect">
              <a:avLst/>
            </a:prstGeom>
          </p:spPr>
          <p:txBody>
            <a:bodyPr anchor="ctr" rtlCol="false" tIns="47504" lIns="47504" bIns="47504" rIns="4750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75698">
            <a:off x="422595" y="173689"/>
            <a:ext cx="2494514" cy="2344786"/>
          </a:xfrm>
          <a:custGeom>
            <a:avLst/>
            <a:gdLst/>
            <a:ahLst/>
            <a:cxnLst/>
            <a:rect r="r" b="b" t="t" l="l"/>
            <a:pathLst>
              <a:path h="2344786" w="2494514">
                <a:moveTo>
                  <a:pt x="0" y="0"/>
                </a:moveTo>
                <a:lnTo>
                  <a:pt x="2494514" y="0"/>
                </a:lnTo>
                <a:lnTo>
                  <a:pt x="2494514" y="2344787"/>
                </a:lnTo>
                <a:lnTo>
                  <a:pt x="0" y="23447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62951" b="-156345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026476" y="2023473"/>
            <a:ext cx="2937375" cy="1248090"/>
          </a:xfrm>
          <a:custGeom>
            <a:avLst/>
            <a:gdLst/>
            <a:ahLst/>
            <a:cxnLst/>
            <a:rect r="r" b="b" t="t" l="l"/>
            <a:pathLst>
              <a:path h="1248090" w="2937375">
                <a:moveTo>
                  <a:pt x="0" y="0"/>
                </a:moveTo>
                <a:lnTo>
                  <a:pt x="2937376" y="0"/>
                </a:lnTo>
                <a:lnTo>
                  <a:pt x="2937376" y="1248091"/>
                </a:lnTo>
                <a:lnTo>
                  <a:pt x="0" y="12480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51496" t="0" r="0" b="-26850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400512" y="8744267"/>
            <a:ext cx="7287696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D6C3"/>
                </a:solidFill>
                <a:latin typeface="Bobby Jones"/>
                <a:ea typeface="Bobby Jones"/>
                <a:cs typeface="Bobby Jones"/>
                <a:sym typeface="Bobby Jones"/>
              </a:rPr>
              <a:t>Higher-income countries generally had higher life expectancy.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D6C3"/>
                </a:solidFill>
                <a:latin typeface="Bobby Jones"/>
                <a:ea typeface="Bobby Jones"/>
                <a:cs typeface="Bobby Jones"/>
                <a:sym typeface="Bobby Jones"/>
              </a:rPr>
              <a:t>CO₂ and life expectancy showed a strong positive correlation.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D6C3"/>
                </a:solidFill>
                <a:latin typeface="Bobby Jones"/>
                <a:ea typeface="Bobby Jones"/>
                <a:cs typeface="Bobby Jones"/>
                <a:sym typeface="Bobby Jones"/>
              </a:rPr>
              <a:t>After controlling for wealth, the relationship became much weaker.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682982">
            <a:off x="-6511765" y="3102146"/>
            <a:ext cx="27779882" cy="8202965"/>
            <a:chOff x="0" y="0"/>
            <a:chExt cx="3173721" cy="937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73721" cy="937150"/>
            </a:xfrm>
            <a:custGeom>
              <a:avLst/>
              <a:gdLst/>
              <a:ahLst/>
              <a:cxnLst/>
              <a:rect r="r" b="b" t="t" l="l"/>
              <a:pathLst>
                <a:path h="937150" w="3173721">
                  <a:moveTo>
                    <a:pt x="1586861" y="0"/>
                  </a:moveTo>
                  <a:cubicBezTo>
                    <a:pt x="710462" y="0"/>
                    <a:pt x="0" y="209788"/>
                    <a:pt x="0" y="468575"/>
                  </a:cubicBezTo>
                  <a:cubicBezTo>
                    <a:pt x="0" y="727362"/>
                    <a:pt x="710462" y="937150"/>
                    <a:pt x="1586861" y="937150"/>
                  </a:cubicBezTo>
                  <a:cubicBezTo>
                    <a:pt x="2463260" y="937150"/>
                    <a:pt x="3173721" y="727362"/>
                    <a:pt x="3173721" y="468575"/>
                  </a:cubicBezTo>
                  <a:cubicBezTo>
                    <a:pt x="3173721" y="209788"/>
                    <a:pt x="2463260" y="0"/>
                    <a:pt x="1586861" y="0"/>
                  </a:cubicBezTo>
                  <a:close/>
                </a:path>
              </a:pathLst>
            </a:custGeom>
            <a:solidFill>
              <a:srgbClr val="006C5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97536" y="49758"/>
              <a:ext cx="2578649" cy="799535"/>
            </a:xfrm>
            <a:prstGeom prst="rect">
              <a:avLst/>
            </a:prstGeom>
          </p:spPr>
          <p:txBody>
            <a:bodyPr anchor="ctr" rtlCol="false" tIns="47504" lIns="47504" bIns="47504" rIns="4750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525205" y="-474875"/>
            <a:ext cx="4172682" cy="4119575"/>
          </a:xfrm>
          <a:custGeom>
            <a:avLst/>
            <a:gdLst/>
            <a:ahLst/>
            <a:cxnLst/>
            <a:rect r="r" b="b" t="t" l="l"/>
            <a:pathLst>
              <a:path h="4119575" w="4172682">
                <a:moveTo>
                  <a:pt x="0" y="0"/>
                </a:moveTo>
                <a:lnTo>
                  <a:pt x="4172682" y="0"/>
                </a:lnTo>
                <a:lnTo>
                  <a:pt x="4172682" y="4119575"/>
                </a:lnTo>
                <a:lnTo>
                  <a:pt x="0" y="4119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624621">
            <a:off x="-1526217" y="-1233098"/>
            <a:ext cx="3052433" cy="4114800"/>
          </a:xfrm>
          <a:custGeom>
            <a:avLst/>
            <a:gdLst/>
            <a:ahLst/>
            <a:cxnLst/>
            <a:rect r="r" b="b" t="t" l="l"/>
            <a:pathLst>
              <a:path h="4114800" w="3052433">
                <a:moveTo>
                  <a:pt x="0" y="0"/>
                </a:moveTo>
                <a:lnTo>
                  <a:pt x="3052434" y="0"/>
                </a:lnTo>
                <a:lnTo>
                  <a:pt x="3052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31258" y="565229"/>
            <a:ext cx="11225485" cy="20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800">
                <a:solidFill>
                  <a:srgbClr val="226245"/>
                </a:solidFill>
                <a:latin typeface="Bobby Jones"/>
                <a:ea typeface="Bobby Jones"/>
                <a:cs typeface="Bobby Jones"/>
                <a:sym typeface="Bobby Jones"/>
              </a:rPr>
              <a:t>When a Significant Result Isn't the Whole  Truth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253246">
            <a:off x="10825925" y="1544165"/>
            <a:ext cx="3240499" cy="1013392"/>
          </a:xfrm>
          <a:custGeom>
            <a:avLst/>
            <a:gdLst/>
            <a:ahLst/>
            <a:cxnLst/>
            <a:rect r="r" b="b" t="t" l="l"/>
            <a:pathLst>
              <a:path h="1013392" w="3240499">
                <a:moveTo>
                  <a:pt x="0" y="0"/>
                </a:moveTo>
                <a:lnTo>
                  <a:pt x="3240500" y="0"/>
                </a:lnTo>
                <a:lnTo>
                  <a:pt x="3240500" y="1013392"/>
                </a:lnTo>
                <a:lnTo>
                  <a:pt x="0" y="10133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9719" y="3644700"/>
            <a:ext cx="7499291" cy="4631915"/>
          </a:xfrm>
          <a:custGeom>
            <a:avLst/>
            <a:gdLst/>
            <a:ahLst/>
            <a:cxnLst/>
            <a:rect r="r" b="b" t="t" l="l"/>
            <a:pathLst>
              <a:path h="4631915" w="7499291">
                <a:moveTo>
                  <a:pt x="0" y="0"/>
                </a:moveTo>
                <a:lnTo>
                  <a:pt x="7499291" y="0"/>
                </a:lnTo>
                <a:lnTo>
                  <a:pt x="7499291" y="4631915"/>
                </a:lnTo>
                <a:lnTo>
                  <a:pt x="0" y="46319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03535" y="3644700"/>
            <a:ext cx="8255981" cy="4520150"/>
          </a:xfrm>
          <a:custGeom>
            <a:avLst/>
            <a:gdLst/>
            <a:ahLst/>
            <a:cxnLst/>
            <a:rect r="r" b="b" t="t" l="l"/>
            <a:pathLst>
              <a:path h="4520150" w="8255981">
                <a:moveTo>
                  <a:pt x="0" y="0"/>
                </a:moveTo>
                <a:lnTo>
                  <a:pt x="8255981" y="0"/>
                </a:lnTo>
                <a:lnTo>
                  <a:pt x="8255981" y="4520150"/>
                </a:lnTo>
                <a:lnTo>
                  <a:pt x="0" y="4520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27618" y="8548621"/>
            <a:ext cx="8951833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D6C3"/>
                </a:solidFill>
                <a:latin typeface="Bobby Jones"/>
                <a:ea typeface="Bobby Jones"/>
                <a:cs typeface="Bobby Jones"/>
                <a:sym typeface="Bobby Jones"/>
              </a:rPr>
              <a:t>CO₂ appeared significant in the cholera regression, while GDP did not.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D6C3"/>
                </a:solidFill>
                <a:latin typeface="Bobby Jones"/>
                <a:ea typeface="Bobby Jones"/>
                <a:cs typeface="Bobby Jones"/>
                <a:sym typeface="Bobby Jones"/>
              </a:rPr>
              <a:t>CO₂ and GDP were highly correlated, creating multicollinearity.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D6C3"/>
                </a:solidFill>
                <a:latin typeface="Bobby Jones"/>
                <a:ea typeface="Bobby Jones"/>
                <a:cs typeface="Bobby Jones"/>
                <a:sym typeface="Bobby Jones"/>
              </a:rPr>
              <a:t>Therefore, statistical significance did not prove that CO₂ directly affected cholera.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73739" y="-3615159"/>
            <a:ext cx="30970838" cy="17459417"/>
            <a:chOff x="0" y="0"/>
            <a:chExt cx="41294451" cy="23279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157594"/>
              <a:ext cx="16258065" cy="10121628"/>
              <a:chOff x="0" y="0"/>
              <a:chExt cx="1305576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30557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05576">
                    <a:moveTo>
                      <a:pt x="652788" y="0"/>
                    </a:moveTo>
                    <a:cubicBezTo>
                      <a:pt x="292263" y="0"/>
                      <a:pt x="0" y="181951"/>
                      <a:pt x="0" y="406400"/>
                    </a:cubicBezTo>
                    <a:cubicBezTo>
                      <a:pt x="0" y="630849"/>
                      <a:pt x="292263" y="812800"/>
                      <a:pt x="652788" y="812800"/>
                    </a:cubicBezTo>
                    <a:cubicBezTo>
                      <a:pt x="1013313" y="812800"/>
                      <a:pt x="1305576" y="630849"/>
                      <a:pt x="1305576" y="406400"/>
                    </a:cubicBezTo>
                    <a:cubicBezTo>
                      <a:pt x="1305576" y="181951"/>
                      <a:pt x="1013313" y="0"/>
                      <a:pt x="652788" y="0"/>
                    </a:cubicBezTo>
                    <a:close/>
                  </a:path>
                </a:pathLst>
              </a:custGeom>
              <a:solidFill>
                <a:srgbClr val="BBC9E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22398" y="38100"/>
                <a:ext cx="1060781" cy="698500"/>
              </a:xfrm>
              <a:prstGeom prst="rect">
                <a:avLst/>
              </a:prstGeom>
            </p:spPr>
            <p:txBody>
              <a:bodyPr anchor="ctr" rtlCol="false" tIns="47504" lIns="47504" bIns="47504" rIns="4750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7804454" y="8111879"/>
              <a:ext cx="10367755" cy="9214026"/>
            </a:xfrm>
            <a:custGeom>
              <a:avLst/>
              <a:gdLst/>
              <a:ahLst/>
              <a:cxnLst/>
              <a:rect r="r" b="b" t="t" l="l"/>
              <a:pathLst>
                <a:path h="9214026" w="10367755">
                  <a:moveTo>
                    <a:pt x="0" y="0"/>
                  </a:moveTo>
                  <a:lnTo>
                    <a:pt x="10367755" y="0"/>
                  </a:lnTo>
                  <a:lnTo>
                    <a:pt x="10367755" y="9214026"/>
                  </a:lnTo>
                  <a:lnTo>
                    <a:pt x="0" y="9214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5039027" y="5960905"/>
              <a:ext cx="10362326" cy="979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41"/>
                </a:lnSpc>
              </a:pPr>
              <a:r>
                <a:rPr lang="en-US" sz="5241">
                  <a:gradFill>
                    <a:gsLst>
                      <a:gs pos="0">
                        <a:srgbClr val="4B4848">
                          <a:alpha val="100000"/>
                        </a:srgbClr>
                      </a:gs>
                      <a:gs pos="100000">
                        <a:srgbClr val="100DBF">
                          <a:alpha val="100000"/>
                        </a:srgbClr>
                      </a:gs>
                    </a:gsLst>
                    <a:lin ang="0"/>
                  </a:gradFill>
                  <a:latin typeface="Bobby Jones"/>
                  <a:ea typeface="Bobby Jones"/>
                  <a:cs typeface="Bobby Jones"/>
                  <a:sym typeface="Bobby Jones"/>
                </a:rPr>
                <a:t>OLD CORRELATION HEAT MAP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253246">
              <a:off x="14599855" y="4735749"/>
              <a:ext cx="10692941" cy="3343974"/>
            </a:xfrm>
            <a:custGeom>
              <a:avLst/>
              <a:gdLst/>
              <a:ahLst/>
              <a:cxnLst/>
              <a:rect r="r" b="b" t="t" l="l"/>
              <a:pathLst>
                <a:path h="3343974" w="10692941">
                  <a:moveTo>
                    <a:pt x="0" y="0"/>
                  </a:moveTo>
                  <a:lnTo>
                    <a:pt x="10692941" y="0"/>
                  </a:lnTo>
                  <a:lnTo>
                    <a:pt x="10692941" y="3343975"/>
                  </a:lnTo>
                  <a:lnTo>
                    <a:pt x="0" y="3343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8435089" y="9098066"/>
              <a:ext cx="11342296" cy="6806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26107" indent="-313054" lvl="1">
                <a:lnSpc>
                  <a:spcPts val="2899"/>
                </a:lnSpc>
                <a:buFont typeface="Arial"/>
                <a:buChar char="•"/>
              </a:pPr>
              <a:r>
                <a:rPr lang="en-US" sz="2899">
                  <a:solidFill>
                    <a:srgbClr val="5974A4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Original values: Malaria −0.74, life expectancy +0.74, cholera −0.70, and air pollution −0.24 in the corrected heatmap; the old heatmap showed different patterns because it used a different method and older data.</a:t>
              </a:r>
            </a:p>
            <a:p>
              <a:pPr algn="just">
                <a:lnSpc>
                  <a:spcPts val="2899"/>
                </a:lnSpc>
              </a:pPr>
            </a:p>
            <a:p>
              <a:pPr algn="just" marL="626107" indent="-313054" lvl="1">
                <a:lnSpc>
                  <a:spcPts val="2899"/>
                </a:lnSpc>
                <a:buFont typeface="Arial"/>
                <a:buChar char="•"/>
              </a:pPr>
              <a:r>
                <a:rPr lang="en-US" sz="2899">
                  <a:solidFill>
                    <a:srgbClr val="5974A4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Main issue: It used standard correlation on raw values, while the rest of the analysis used a rank-based, skew-resistant correlation method.</a:t>
              </a:r>
            </a:p>
            <a:p>
              <a:pPr algn="just">
                <a:lnSpc>
                  <a:spcPts val="2899"/>
                </a:lnSpc>
              </a:pPr>
            </a:p>
            <a:p>
              <a:pPr algn="just" marL="626107" indent="-313054" lvl="1">
                <a:lnSpc>
                  <a:spcPts val="2899"/>
                </a:lnSpc>
                <a:buFont typeface="Arial"/>
                <a:buChar char="•"/>
              </a:pPr>
              <a:r>
                <a:rPr lang="en-US" sz="2899">
                  <a:solidFill>
                    <a:srgbClr val="5974A4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Data problem: It still used the old single-year air pollution mortality variable instead of the corrected yearly PM2.5 exposure variable.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5854144" y="0"/>
              <a:ext cx="15237107" cy="9486020"/>
              <a:chOff x="0" y="0"/>
              <a:chExt cx="1305576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0557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05576">
                    <a:moveTo>
                      <a:pt x="652788" y="0"/>
                    </a:moveTo>
                    <a:cubicBezTo>
                      <a:pt x="292263" y="0"/>
                      <a:pt x="0" y="181951"/>
                      <a:pt x="0" y="406400"/>
                    </a:cubicBezTo>
                    <a:cubicBezTo>
                      <a:pt x="0" y="630849"/>
                      <a:pt x="292263" y="812800"/>
                      <a:pt x="652788" y="812800"/>
                    </a:cubicBezTo>
                    <a:cubicBezTo>
                      <a:pt x="1013313" y="812800"/>
                      <a:pt x="1305576" y="630849"/>
                      <a:pt x="1305576" y="406400"/>
                    </a:cubicBezTo>
                    <a:cubicBezTo>
                      <a:pt x="1305576" y="181951"/>
                      <a:pt x="1013313" y="0"/>
                      <a:pt x="652788" y="0"/>
                    </a:cubicBezTo>
                    <a:close/>
                  </a:path>
                </a:pathLst>
              </a:custGeom>
              <a:solidFill>
                <a:srgbClr val="BBC9E9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22398" y="38100"/>
                <a:ext cx="1060781" cy="698500"/>
              </a:xfrm>
              <a:prstGeom prst="rect">
                <a:avLst/>
              </a:prstGeom>
            </p:spPr>
            <p:txBody>
              <a:bodyPr anchor="ctr" rtlCol="false" tIns="47504" lIns="47504" bIns="47504" rIns="4750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6057344" y="203200"/>
              <a:ext cx="15237107" cy="9486020"/>
              <a:chOff x="0" y="0"/>
              <a:chExt cx="1305576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0557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05576">
                    <a:moveTo>
                      <a:pt x="652788" y="0"/>
                    </a:moveTo>
                    <a:cubicBezTo>
                      <a:pt x="292263" y="0"/>
                      <a:pt x="0" y="181951"/>
                      <a:pt x="0" y="406400"/>
                    </a:cubicBezTo>
                    <a:cubicBezTo>
                      <a:pt x="0" y="630849"/>
                      <a:pt x="292263" y="812800"/>
                      <a:pt x="652788" y="812800"/>
                    </a:cubicBezTo>
                    <a:cubicBezTo>
                      <a:pt x="1013313" y="812800"/>
                      <a:pt x="1305576" y="630849"/>
                      <a:pt x="1305576" y="406400"/>
                    </a:cubicBezTo>
                    <a:cubicBezTo>
                      <a:pt x="1305576" y="181951"/>
                      <a:pt x="1013313" y="0"/>
                      <a:pt x="652788" y="0"/>
                    </a:cubicBezTo>
                    <a:close/>
                  </a:path>
                </a:pathLst>
              </a:custGeom>
              <a:solidFill>
                <a:srgbClr val="BBC9E9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22398" y="38100"/>
                <a:ext cx="1060781" cy="698500"/>
              </a:xfrm>
              <a:prstGeom prst="rect">
                <a:avLst/>
              </a:prstGeom>
            </p:spPr>
            <p:txBody>
              <a:bodyPr anchor="ctr" rtlCol="false" tIns="47504" lIns="47504" bIns="47504" rIns="4750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6764986" y="4820212"/>
              <a:ext cx="3011248" cy="4294835"/>
            </a:xfrm>
            <a:custGeom>
              <a:avLst/>
              <a:gdLst/>
              <a:ahLst/>
              <a:cxnLst/>
              <a:rect r="r" b="b" t="t" l="l"/>
              <a:pathLst>
                <a:path h="4294835" w="3011248">
                  <a:moveTo>
                    <a:pt x="0" y="0"/>
                  </a:moveTo>
                  <a:lnTo>
                    <a:pt x="3011248" y="0"/>
                  </a:lnTo>
                  <a:lnTo>
                    <a:pt x="3011248" y="4294835"/>
                  </a:lnTo>
                  <a:lnTo>
                    <a:pt x="0" y="4294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107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93284" y="790788"/>
            <a:ext cx="1521744" cy="646589"/>
          </a:xfrm>
          <a:custGeom>
            <a:avLst/>
            <a:gdLst/>
            <a:ahLst/>
            <a:cxnLst/>
            <a:rect r="r" b="b" t="t" l="l"/>
            <a:pathLst>
              <a:path h="646589" w="1521744">
                <a:moveTo>
                  <a:pt x="0" y="0"/>
                </a:moveTo>
                <a:lnTo>
                  <a:pt x="1521744" y="0"/>
                </a:lnTo>
                <a:lnTo>
                  <a:pt x="1521744" y="646589"/>
                </a:lnTo>
                <a:lnTo>
                  <a:pt x="0" y="646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51496" t="0" r="0" b="-2685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15196" y="0"/>
            <a:ext cx="8182542" cy="3091427"/>
            <a:chOff x="0" y="0"/>
            <a:chExt cx="10910056" cy="412190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87114" y="1140693"/>
              <a:ext cx="8812378" cy="1866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41"/>
                </a:lnSpc>
              </a:pPr>
              <a:r>
                <a:rPr lang="en-US" sz="5241">
                  <a:solidFill>
                    <a:srgbClr val="E0614A"/>
                  </a:solidFill>
                  <a:latin typeface="Bobby Jones"/>
                  <a:ea typeface="Bobby Jones"/>
                  <a:cs typeface="Bobby Jones"/>
                  <a:sym typeface="Bobby Jones"/>
                </a:rPr>
                <a:t>When the Data and the Method Finally Agreed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253246">
              <a:off x="108557" y="388964"/>
              <a:ext cx="10692941" cy="3343974"/>
            </a:xfrm>
            <a:custGeom>
              <a:avLst/>
              <a:gdLst/>
              <a:ahLst/>
              <a:cxnLst/>
              <a:rect r="r" b="b" t="t" l="l"/>
              <a:pathLst>
                <a:path h="3343974" w="10692941">
                  <a:moveTo>
                    <a:pt x="0" y="0"/>
                  </a:moveTo>
                  <a:lnTo>
                    <a:pt x="10692941" y="0"/>
                  </a:lnTo>
                  <a:lnTo>
                    <a:pt x="10692941" y="3343974"/>
                  </a:lnTo>
                  <a:lnTo>
                    <a:pt x="0" y="3343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622352" y="3285836"/>
            <a:ext cx="7722156" cy="6126254"/>
          </a:xfrm>
          <a:custGeom>
            <a:avLst/>
            <a:gdLst/>
            <a:ahLst/>
            <a:cxnLst/>
            <a:rect r="r" b="b" t="t" l="l"/>
            <a:pathLst>
              <a:path h="6126254" w="7722156">
                <a:moveTo>
                  <a:pt x="0" y="0"/>
                </a:moveTo>
                <a:lnTo>
                  <a:pt x="7722156" y="0"/>
                </a:lnTo>
                <a:lnTo>
                  <a:pt x="7722156" y="6126254"/>
                </a:lnTo>
                <a:lnTo>
                  <a:pt x="0" y="6126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89" r="-879" b="-11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6000" y="3228686"/>
            <a:ext cx="8498000" cy="657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3545" indent="-286773" lvl="1">
              <a:lnSpc>
                <a:spcPts val="3719"/>
              </a:lnSpc>
              <a:buFont typeface="Arial"/>
              <a:buChar char="•"/>
            </a:pPr>
            <a:r>
              <a:rPr lang="en-US" sz="2656">
                <a:solidFill>
                  <a:srgbClr val="891227"/>
                </a:solidFill>
                <a:latin typeface="Bobby Jones"/>
                <a:ea typeface="Bobby Jones"/>
                <a:cs typeface="Bobby Jones"/>
                <a:sym typeface="Bobby Jones"/>
              </a:rPr>
              <a:t>Rebuilt the heatmap using the corrected data and the same statistical method used throughout the analysis.</a:t>
            </a:r>
          </a:p>
          <a:p>
            <a:pPr algn="l" marL="573545" indent="-286773" lvl="1">
              <a:lnSpc>
                <a:spcPts val="3719"/>
              </a:lnSpc>
              <a:buFont typeface="Arial"/>
              <a:buChar char="•"/>
            </a:pPr>
            <a:r>
              <a:rPr lang="en-US" sz="2656">
                <a:solidFill>
                  <a:srgbClr val="891227"/>
                </a:solidFill>
                <a:latin typeface="Bobby Jones"/>
                <a:ea typeface="Bobby Jones"/>
                <a:cs typeface="Bobby Jones"/>
                <a:sym typeface="Bobby Jones"/>
              </a:rPr>
              <a:t>The results aligned with the findings from the income-group and time-trend analyses.</a:t>
            </a:r>
          </a:p>
          <a:p>
            <a:pPr algn="l" marL="573545" indent="-286773" lvl="1">
              <a:lnSpc>
                <a:spcPts val="3719"/>
              </a:lnSpc>
              <a:buFont typeface="Arial"/>
              <a:buChar char="•"/>
            </a:pPr>
            <a:r>
              <a:rPr lang="en-US" sz="2656">
                <a:solidFill>
                  <a:srgbClr val="891227"/>
                </a:solidFill>
                <a:latin typeface="Bobby Jones"/>
                <a:ea typeface="Bobby Jones"/>
                <a:cs typeface="Bobby Jones"/>
                <a:sym typeface="Bobby Jones"/>
              </a:rPr>
              <a:t>Malaria: Strong negative relationship with CO₂ (−0.74).</a:t>
            </a:r>
          </a:p>
          <a:p>
            <a:pPr algn="l" marL="573545" indent="-286773" lvl="1">
              <a:lnSpc>
                <a:spcPts val="3719"/>
              </a:lnSpc>
              <a:buFont typeface="Arial"/>
              <a:buChar char="•"/>
            </a:pPr>
            <a:r>
              <a:rPr lang="en-US" sz="2656">
                <a:solidFill>
                  <a:srgbClr val="891227"/>
                </a:solidFill>
                <a:latin typeface="Bobby Jones"/>
                <a:ea typeface="Bobby Jones"/>
                <a:cs typeface="Bobby Jones"/>
                <a:sym typeface="Bobby Jones"/>
              </a:rPr>
              <a:t>Life expectancy: Strong positive relationship with CO₂ (+0.74).</a:t>
            </a:r>
          </a:p>
          <a:p>
            <a:pPr algn="l" marL="573545" indent="-286773" lvl="1">
              <a:lnSpc>
                <a:spcPts val="3719"/>
              </a:lnSpc>
              <a:buFont typeface="Arial"/>
              <a:buChar char="•"/>
            </a:pPr>
            <a:r>
              <a:rPr lang="en-US" sz="2656">
                <a:solidFill>
                  <a:srgbClr val="891227"/>
                </a:solidFill>
                <a:latin typeface="Bobby Jones"/>
                <a:ea typeface="Bobby Jones"/>
                <a:cs typeface="Bobby Jones"/>
                <a:sym typeface="Bobby Jones"/>
              </a:rPr>
              <a:t>Cholera: Strong negative relationship with CO₂ (−0.70).</a:t>
            </a:r>
          </a:p>
          <a:p>
            <a:pPr algn="l" marL="573545" indent="-286773" lvl="1">
              <a:lnSpc>
                <a:spcPts val="3719"/>
              </a:lnSpc>
              <a:buFont typeface="Arial"/>
              <a:buChar char="•"/>
            </a:pPr>
            <a:r>
              <a:rPr lang="en-US" sz="2656">
                <a:solidFill>
                  <a:srgbClr val="891227"/>
                </a:solidFill>
                <a:latin typeface="Bobby Jones"/>
                <a:ea typeface="Bobby Jones"/>
                <a:cs typeface="Bobby Jones"/>
                <a:sym typeface="Bobby Jones"/>
              </a:rPr>
              <a:t>Air pollution: Much weaker relationship (−0.24).</a:t>
            </a:r>
          </a:p>
          <a:p>
            <a:pPr algn="l" marL="573545" indent="-286773" lvl="1">
              <a:lnSpc>
                <a:spcPts val="3719"/>
              </a:lnSpc>
              <a:buFont typeface="Arial"/>
              <a:buChar char="•"/>
            </a:pPr>
            <a:r>
              <a:rPr lang="en-US" sz="2656">
                <a:solidFill>
                  <a:srgbClr val="891227"/>
                </a:solidFill>
                <a:latin typeface="Bobby Jones"/>
                <a:ea typeface="Bobby Jones"/>
                <a:cs typeface="Bobby Jones"/>
                <a:sym typeface="Bobby Jones"/>
              </a:rPr>
              <a:t>The heatmap confirmed the pattern—but did not establish causation.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98203" y="6899636"/>
            <a:ext cx="2694011" cy="3193332"/>
          </a:xfrm>
          <a:custGeom>
            <a:avLst/>
            <a:gdLst/>
            <a:ahLst/>
            <a:cxnLst/>
            <a:rect r="r" b="b" t="t" l="l"/>
            <a:pathLst>
              <a:path h="3193332" w="2694011">
                <a:moveTo>
                  <a:pt x="0" y="0"/>
                </a:moveTo>
                <a:lnTo>
                  <a:pt x="2694011" y="0"/>
                </a:lnTo>
                <a:lnTo>
                  <a:pt x="2694011" y="3193332"/>
                </a:lnTo>
                <a:lnTo>
                  <a:pt x="0" y="31933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73534" y="130183"/>
            <a:ext cx="2971533" cy="2831061"/>
          </a:xfrm>
          <a:custGeom>
            <a:avLst/>
            <a:gdLst/>
            <a:ahLst/>
            <a:cxnLst/>
            <a:rect r="r" b="b" t="t" l="l"/>
            <a:pathLst>
              <a:path h="2831061" w="2971533">
                <a:moveTo>
                  <a:pt x="0" y="0"/>
                </a:moveTo>
                <a:lnTo>
                  <a:pt x="2971532" y="0"/>
                </a:lnTo>
                <a:lnTo>
                  <a:pt x="2971532" y="2831061"/>
                </a:lnTo>
                <a:lnTo>
                  <a:pt x="0" y="28310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3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810589">
            <a:off x="-7541920" y="-1800975"/>
            <a:ext cx="14535594" cy="4311157"/>
            <a:chOff x="0" y="0"/>
            <a:chExt cx="2740455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0455" cy="812800"/>
            </a:xfrm>
            <a:custGeom>
              <a:avLst/>
              <a:gdLst/>
              <a:ahLst/>
              <a:cxnLst/>
              <a:rect r="r" b="b" t="t" l="l"/>
              <a:pathLst>
                <a:path h="812800" w="2740455">
                  <a:moveTo>
                    <a:pt x="1370227" y="0"/>
                  </a:moveTo>
                  <a:cubicBezTo>
                    <a:pt x="613472" y="0"/>
                    <a:pt x="0" y="181951"/>
                    <a:pt x="0" y="406400"/>
                  </a:cubicBezTo>
                  <a:cubicBezTo>
                    <a:pt x="0" y="630849"/>
                    <a:pt x="613472" y="812800"/>
                    <a:pt x="1370227" y="812800"/>
                  </a:cubicBezTo>
                  <a:cubicBezTo>
                    <a:pt x="2126983" y="812800"/>
                    <a:pt x="2740455" y="630849"/>
                    <a:pt x="2740455" y="406400"/>
                  </a:cubicBezTo>
                  <a:cubicBezTo>
                    <a:pt x="2740455" y="181951"/>
                    <a:pt x="2126983" y="0"/>
                    <a:pt x="1370227" y="0"/>
                  </a:cubicBezTo>
                  <a:close/>
                </a:path>
              </a:pathLst>
            </a:custGeom>
            <a:solidFill>
              <a:srgbClr val="E0614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256918" y="38100"/>
              <a:ext cx="2226620" cy="698500"/>
            </a:xfrm>
            <a:prstGeom prst="rect">
              <a:avLst/>
            </a:prstGeom>
          </p:spPr>
          <p:txBody>
            <a:bodyPr anchor="ctr" rtlCol="false" tIns="47504" lIns="47504" bIns="47504" rIns="4750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9640"/>
            <a:ext cx="5961560" cy="10287000"/>
            <a:chOff x="0" y="0"/>
            <a:chExt cx="923602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3602" cy="1593725"/>
            </a:xfrm>
            <a:custGeom>
              <a:avLst/>
              <a:gdLst/>
              <a:ahLst/>
              <a:cxnLst/>
              <a:rect r="r" b="b" t="t" l="l"/>
              <a:pathLst>
                <a:path h="1593725" w="923602">
                  <a:moveTo>
                    <a:pt x="29869" y="0"/>
                  </a:moveTo>
                  <a:lnTo>
                    <a:pt x="893733" y="0"/>
                  </a:lnTo>
                  <a:cubicBezTo>
                    <a:pt x="901655" y="0"/>
                    <a:pt x="909252" y="3147"/>
                    <a:pt x="914853" y="8748"/>
                  </a:cubicBezTo>
                  <a:cubicBezTo>
                    <a:pt x="920455" y="14350"/>
                    <a:pt x="923602" y="21947"/>
                    <a:pt x="923602" y="29869"/>
                  </a:cubicBezTo>
                  <a:lnTo>
                    <a:pt x="923602" y="1563857"/>
                  </a:lnTo>
                  <a:cubicBezTo>
                    <a:pt x="923602" y="1571778"/>
                    <a:pt x="920455" y="1579376"/>
                    <a:pt x="914853" y="1584977"/>
                  </a:cubicBezTo>
                  <a:cubicBezTo>
                    <a:pt x="909252" y="1590579"/>
                    <a:pt x="901655" y="1593725"/>
                    <a:pt x="893733" y="1593725"/>
                  </a:cubicBezTo>
                  <a:lnTo>
                    <a:pt x="29869" y="1593725"/>
                  </a:lnTo>
                  <a:cubicBezTo>
                    <a:pt x="13373" y="1593725"/>
                    <a:pt x="0" y="1580353"/>
                    <a:pt x="0" y="1563857"/>
                  </a:cubicBezTo>
                  <a:lnTo>
                    <a:pt x="0" y="29869"/>
                  </a:lnTo>
                  <a:cubicBezTo>
                    <a:pt x="0" y="21947"/>
                    <a:pt x="3147" y="14350"/>
                    <a:pt x="8748" y="8748"/>
                  </a:cubicBezTo>
                  <a:cubicBezTo>
                    <a:pt x="14350" y="3147"/>
                    <a:pt x="21947" y="0"/>
                    <a:pt x="29869" y="0"/>
                  </a:cubicBezTo>
                  <a:close/>
                </a:path>
              </a:pathLst>
            </a:custGeom>
            <a:blipFill>
              <a:blip r:embed="rId2"/>
              <a:stretch>
                <a:fillRect l="-116052" t="0" r="-11262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24648" y="640489"/>
            <a:ext cx="10734652" cy="2079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7"/>
              </a:lnSpc>
              <a:spcBef>
                <a:spcPct val="0"/>
              </a:spcBef>
            </a:pPr>
            <a:r>
              <a:rPr lang="en-US" sz="5377">
                <a:solidFill>
                  <a:srgbClr val="E0614A"/>
                </a:solidFill>
                <a:latin typeface="Bobby Jones"/>
                <a:ea typeface="Bobby Jones"/>
                <a:cs typeface="Bobby Jones"/>
                <a:sym typeface="Bobby Jones"/>
              </a:rPr>
              <a:t>We</a:t>
            </a:r>
            <a:r>
              <a:rPr lang="en-US" sz="5377">
                <a:solidFill>
                  <a:srgbClr val="E0614A"/>
                </a:solidFill>
                <a:latin typeface="Bobby Jones"/>
                <a:ea typeface="Bobby Jones"/>
                <a:cs typeface="Bobby Jones"/>
                <a:sym typeface="Bobby Jones"/>
              </a:rPr>
              <a:t> Started by Studying Emissions. We  Ended Up Understanding Development.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76096" y="3048611"/>
            <a:ext cx="10083204" cy="6209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57"/>
              </a:lnSpc>
              <a:spcBef>
                <a:spcPct val="0"/>
              </a:spcBef>
            </a:pPr>
            <a:r>
              <a:rPr lang="en-US" sz="3183">
                <a:solidFill>
                  <a:srgbClr val="5974A4"/>
                </a:solidFill>
                <a:latin typeface="Bobby Jones"/>
                <a:ea typeface="Bobby Jones"/>
                <a:cs typeface="Bobby Jones"/>
                <a:sym typeface="Bobby Jones"/>
              </a:rPr>
              <a:t>We started by studying the relationship between CO₂ emissions and health.</a:t>
            </a:r>
          </a:p>
          <a:p>
            <a:pPr algn="just">
              <a:lnSpc>
                <a:spcPts val="4457"/>
              </a:lnSpc>
              <a:spcBef>
                <a:spcPct val="0"/>
              </a:spcBef>
            </a:pPr>
            <a:r>
              <a:rPr lang="en-US" sz="3183">
                <a:solidFill>
                  <a:srgbClr val="5974A4"/>
                </a:solidFill>
                <a:latin typeface="Bobby Jones"/>
                <a:ea typeface="Bobby Jones"/>
                <a:cs typeface="Bobby Jones"/>
                <a:sym typeface="Bobby Jones"/>
              </a:rPr>
              <a:t>Our analysis showed that CO₂ alone cannot explain health outcomes.</a:t>
            </a:r>
          </a:p>
          <a:p>
            <a:pPr algn="just">
              <a:lnSpc>
                <a:spcPts val="4457"/>
              </a:lnSpc>
              <a:spcBef>
                <a:spcPct val="0"/>
              </a:spcBef>
            </a:pPr>
            <a:r>
              <a:rPr lang="en-US" sz="3183">
                <a:solidFill>
                  <a:srgbClr val="5974A4"/>
                </a:solidFill>
                <a:latin typeface="Bobby Jones"/>
                <a:ea typeface="Bobby Jones"/>
                <a:cs typeface="Bobby Jones"/>
                <a:sym typeface="Bobby Jones"/>
              </a:rPr>
              <a:t>Economic development, income, and other factors also shape these outcomes.</a:t>
            </a:r>
          </a:p>
          <a:p>
            <a:pPr algn="just">
              <a:lnSpc>
                <a:spcPts val="4457"/>
              </a:lnSpc>
              <a:spcBef>
                <a:spcPct val="0"/>
              </a:spcBef>
            </a:pPr>
            <a:r>
              <a:rPr lang="en-US" sz="3183">
                <a:solidFill>
                  <a:srgbClr val="5974A4"/>
                </a:solidFill>
                <a:latin typeface="Bobby Jones"/>
                <a:ea typeface="Bobby Jones"/>
                <a:cs typeface="Bobby Jones"/>
                <a:sym typeface="Bobby Jones"/>
              </a:rPr>
              <a:t>Patterns varied across countries and income groups.</a:t>
            </a:r>
          </a:p>
          <a:p>
            <a:pPr algn="just">
              <a:lnSpc>
                <a:spcPts val="4457"/>
              </a:lnSpc>
              <a:spcBef>
                <a:spcPct val="0"/>
              </a:spcBef>
            </a:pPr>
            <a:r>
              <a:rPr lang="en-US" sz="3183">
                <a:solidFill>
                  <a:srgbClr val="5974A4"/>
                </a:solidFill>
                <a:latin typeface="Bobby Jones"/>
                <a:ea typeface="Bobby Jones"/>
                <a:cs typeface="Bobby Jones"/>
                <a:sym typeface="Bobby Jones"/>
              </a:rPr>
              <a:t>Using corrected and comparable data made our findings more reliable.</a:t>
            </a:r>
          </a:p>
          <a:p>
            <a:pPr algn="just">
              <a:lnSpc>
                <a:spcPts val="4457"/>
              </a:lnSpc>
              <a:spcBef>
                <a:spcPct val="0"/>
              </a:spcBef>
            </a:pPr>
            <a:r>
              <a:rPr lang="en-US" sz="3183">
                <a:solidFill>
                  <a:srgbClr val="5974A4"/>
                </a:solidFill>
                <a:latin typeface="Bobby Jones"/>
                <a:ea typeface="Bobby Jones"/>
                <a:cs typeface="Bobby Jones"/>
                <a:sym typeface="Bobby Jones"/>
              </a:rPr>
              <a:t>We started by studying emissions. We ended up understanding development.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4384" y="-5647390"/>
            <a:ext cx="11759233" cy="117592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C3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75698">
            <a:off x="13675761" y="4647293"/>
            <a:ext cx="4490357" cy="2480572"/>
          </a:xfrm>
          <a:custGeom>
            <a:avLst/>
            <a:gdLst/>
            <a:ahLst/>
            <a:cxnLst/>
            <a:rect r="r" b="b" t="t" l="l"/>
            <a:pathLst>
              <a:path h="2480572" w="4490357">
                <a:moveTo>
                  <a:pt x="0" y="0"/>
                </a:moveTo>
                <a:lnTo>
                  <a:pt x="4490357" y="0"/>
                </a:lnTo>
                <a:lnTo>
                  <a:pt x="4490357" y="2480572"/>
                </a:lnTo>
                <a:lnTo>
                  <a:pt x="0" y="248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588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75698">
            <a:off x="15940846" y="2320348"/>
            <a:ext cx="2494514" cy="2344786"/>
          </a:xfrm>
          <a:custGeom>
            <a:avLst/>
            <a:gdLst/>
            <a:ahLst/>
            <a:cxnLst/>
            <a:rect r="r" b="b" t="t" l="l"/>
            <a:pathLst>
              <a:path h="2344786" w="2494514">
                <a:moveTo>
                  <a:pt x="0" y="0"/>
                </a:moveTo>
                <a:lnTo>
                  <a:pt x="2494515" y="0"/>
                </a:lnTo>
                <a:lnTo>
                  <a:pt x="2494515" y="2344786"/>
                </a:lnTo>
                <a:lnTo>
                  <a:pt x="0" y="2344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62951" b="-15634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88209">
            <a:off x="814258" y="2798086"/>
            <a:ext cx="3366260" cy="3366260"/>
          </a:xfrm>
          <a:custGeom>
            <a:avLst/>
            <a:gdLst/>
            <a:ahLst/>
            <a:cxnLst/>
            <a:rect r="r" b="b" t="t" l="l"/>
            <a:pathLst>
              <a:path h="3366260" w="3366260">
                <a:moveTo>
                  <a:pt x="0" y="0"/>
                </a:moveTo>
                <a:lnTo>
                  <a:pt x="3366260" y="0"/>
                </a:lnTo>
                <a:lnTo>
                  <a:pt x="3366260" y="3366260"/>
                </a:lnTo>
                <a:lnTo>
                  <a:pt x="0" y="3366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50954">
            <a:off x="16145271" y="7695114"/>
            <a:ext cx="1477493" cy="2155494"/>
          </a:xfrm>
          <a:custGeom>
            <a:avLst/>
            <a:gdLst/>
            <a:ahLst/>
            <a:cxnLst/>
            <a:rect r="r" b="b" t="t" l="l"/>
            <a:pathLst>
              <a:path h="2155494" w="1477493">
                <a:moveTo>
                  <a:pt x="0" y="0"/>
                </a:moveTo>
                <a:lnTo>
                  <a:pt x="1477493" y="0"/>
                </a:lnTo>
                <a:lnTo>
                  <a:pt x="1477493" y="2155494"/>
                </a:lnTo>
                <a:lnTo>
                  <a:pt x="0" y="2155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63980">
            <a:off x="14317874" y="640535"/>
            <a:ext cx="1197632" cy="1747208"/>
          </a:xfrm>
          <a:custGeom>
            <a:avLst/>
            <a:gdLst/>
            <a:ahLst/>
            <a:cxnLst/>
            <a:rect r="r" b="b" t="t" l="l"/>
            <a:pathLst>
              <a:path h="1747208" w="1197632">
                <a:moveTo>
                  <a:pt x="0" y="0"/>
                </a:moveTo>
                <a:lnTo>
                  <a:pt x="1197631" y="0"/>
                </a:lnTo>
                <a:lnTo>
                  <a:pt x="1197631" y="1747208"/>
                </a:lnTo>
                <a:lnTo>
                  <a:pt x="0" y="17472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150454">
            <a:off x="831389" y="7171876"/>
            <a:ext cx="1887609" cy="3639871"/>
          </a:xfrm>
          <a:custGeom>
            <a:avLst/>
            <a:gdLst/>
            <a:ahLst/>
            <a:cxnLst/>
            <a:rect r="r" b="b" t="t" l="l"/>
            <a:pathLst>
              <a:path h="3639871" w="1887609">
                <a:moveTo>
                  <a:pt x="0" y="0"/>
                </a:moveTo>
                <a:lnTo>
                  <a:pt x="1887609" y="0"/>
                </a:lnTo>
                <a:lnTo>
                  <a:pt x="1887609" y="3639871"/>
                </a:lnTo>
                <a:lnTo>
                  <a:pt x="0" y="36398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87921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3169" y="1028700"/>
            <a:ext cx="2284958" cy="970879"/>
          </a:xfrm>
          <a:custGeom>
            <a:avLst/>
            <a:gdLst/>
            <a:ahLst/>
            <a:cxnLst/>
            <a:rect r="r" b="b" t="t" l="l"/>
            <a:pathLst>
              <a:path h="970879" w="2284958">
                <a:moveTo>
                  <a:pt x="0" y="0"/>
                </a:moveTo>
                <a:lnTo>
                  <a:pt x="2284959" y="0"/>
                </a:lnTo>
                <a:lnTo>
                  <a:pt x="2284959" y="970879"/>
                </a:lnTo>
                <a:lnTo>
                  <a:pt x="0" y="9708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251496" t="0" r="0" b="-26850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95696" y="404655"/>
            <a:ext cx="2937375" cy="1248090"/>
          </a:xfrm>
          <a:custGeom>
            <a:avLst/>
            <a:gdLst/>
            <a:ahLst/>
            <a:cxnLst/>
            <a:rect r="r" b="b" t="t" l="l"/>
            <a:pathLst>
              <a:path h="1248090" w="2937375">
                <a:moveTo>
                  <a:pt x="0" y="0"/>
                </a:moveTo>
                <a:lnTo>
                  <a:pt x="2937375" y="0"/>
                </a:lnTo>
                <a:lnTo>
                  <a:pt x="2937375" y="1248090"/>
                </a:lnTo>
                <a:lnTo>
                  <a:pt x="0" y="124809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251496" t="0" r="0" b="-26850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14549" y="9772679"/>
            <a:ext cx="2937375" cy="1248090"/>
          </a:xfrm>
          <a:custGeom>
            <a:avLst/>
            <a:gdLst/>
            <a:ahLst/>
            <a:cxnLst/>
            <a:rect r="r" b="b" t="t" l="l"/>
            <a:pathLst>
              <a:path h="1248090" w="2937375">
                <a:moveTo>
                  <a:pt x="0" y="0"/>
                </a:moveTo>
                <a:lnTo>
                  <a:pt x="2937375" y="0"/>
                </a:lnTo>
                <a:lnTo>
                  <a:pt x="2937375" y="1248091"/>
                </a:lnTo>
                <a:lnTo>
                  <a:pt x="0" y="12480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251496" t="0" r="0" b="-26850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935405" y="-2604604"/>
            <a:ext cx="4598550" cy="4607082"/>
          </a:xfrm>
          <a:custGeom>
            <a:avLst/>
            <a:gdLst/>
            <a:ahLst/>
            <a:cxnLst/>
            <a:rect r="r" b="b" t="t" l="l"/>
            <a:pathLst>
              <a:path h="4607082" w="4598550">
                <a:moveTo>
                  <a:pt x="0" y="0"/>
                </a:moveTo>
                <a:lnTo>
                  <a:pt x="4598550" y="0"/>
                </a:lnTo>
                <a:lnTo>
                  <a:pt x="4598550" y="4607082"/>
                </a:lnTo>
                <a:lnTo>
                  <a:pt x="0" y="460708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30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95193" y="3281175"/>
            <a:ext cx="3394973" cy="2210976"/>
          </a:xfrm>
          <a:custGeom>
            <a:avLst/>
            <a:gdLst/>
            <a:ahLst/>
            <a:cxnLst/>
            <a:rect r="r" b="b" t="t" l="l"/>
            <a:pathLst>
              <a:path h="2210976" w="3394973">
                <a:moveTo>
                  <a:pt x="0" y="0"/>
                </a:moveTo>
                <a:lnTo>
                  <a:pt x="3394973" y="0"/>
                </a:lnTo>
                <a:lnTo>
                  <a:pt x="3394973" y="2210976"/>
                </a:lnTo>
                <a:lnTo>
                  <a:pt x="0" y="221097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71623" y="3502253"/>
            <a:ext cx="3822127" cy="197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89"/>
              </a:lnSpc>
              <a:spcBef>
                <a:spcPct val="0"/>
              </a:spcBef>
            </a:pPr>
            <a:r>
              <a:rPr lang="en-US" sz="14589">
                <a:solidFill>
                  <a:srgbClr val="FEF7E7"/>
                </a:solidFill>
                <a:latin typeface="Bobby Jones"/>
                <a:ea typeface="Bobby Jones"/>
                <a:cs typeface="Bobby Jones"/>
                <a:sym typeface="Bobby Jones"/>
              </a:rPr>
              <a:t>you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20600" y="1551410"/>
            <a:ext cx="5447744" cy="1971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89"/>
              </a:lnSpc>
              <a:spcBef>
                <a:spcPct val="0"/>
              </a:spcBef>
            </a:pPr>
            <a:r>
              <a:rPr lang="en-US" sz="14589">
                <a:solidFill>
                  <a:srgbClr val="006C56"/>
                </a:solidFill>
                <a:latin typeface="Bobby Jones"/>
                <a:ea typeface="Bobby Jones"/>
                <a:cs typeface="Bobby Jones"/>
                <a:sym typeface="Bobby Jones"/>
              </a:rPr>
              <a:t>Thank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814347" y="-2272741"/>
            <a:ext cx="3478649" cy="3478649"/>
          </a:xfrm>
          <a:custGeom>
            <a:avLst/>
            <a:gdLst/>
            <a:ahLst/>
            <a:cxnLst/>
            <a:rect r="r" b="b" t="t" l="l"/>
            <a:pathLst>
              <a:path h="3478649" w="3478649">
                <a:moveTo>
                  <a:pt x="0" y="0"/>
                </a:moveTo>
                <a:lnTo>
                  <a:pt x="3478649" y="0"/>
                </a:lnTo>
                <a:lnTo>
                  <a:pt x="3478649" y="3478649"/>
                </a:lnTo>
                <a:lnTo>
                  <a:pt x="0" y="347864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981357" y="7403445"/>
            <a:ext cx="12526229" cy="45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2656" u="sng">
                <a:solidFill>
                  <a:srgbClr val="891227"/>
                </a:solidFill>
                <a:latin typeface="Bobby Jones"/>
                <a:ea typeface="Bobby Jones"/>
                <a:cs typeface="Bobby Jones"/>
                <a:sym typeface="Bobby Jones"/>
                <a:hlinkClick r:id="rId22" tooltip="https://github.com/SaniyaShaikh-sxc/climate-health-lifestyle-analysis"/>
              </a:rPr>
              <a:t> https://github.com/SaniyaShaikh-sxc/climate-health-lifestyle-analysis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DAHU4wR7K50</dc:identifier>
  <dcterms:modified xsi:type="dcterms:W3CDTF">2011-08-01T06:04:30Z</dcterms:modified>
  <cp:revision>1</cp:revision>
  <dc:title>CLIMATE, WEALTH &amp; HEALTH</dc:title>
</cp:coreProperties>
</file>